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c00c14bf327400b" /><Relationship Type="http://schemas.openxmlformats.org/officeDocument/2006/relationships/extended-properties" Target="/docProps/app.xml" Id="Re19166da8732402a" /><Relationship Type="http://schemas.openxmlformats.org/officeDocument/2006/relationships/officeDocument" Target="/ppt/presentation.xml" Id="Rc93184b2fbdd4b0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0c2ea08ea0143d4"/>
  </p:sldMasterIdLst>
  <p:notesMasterIdLst>
    <p:notesMasterId xmlns:r="http://schemas.openxmlformats.org/officeDocument/2006/relationships" r:id="R9f3e9bc7c93d40e0"/>
  </p:notesMasterIdLst>
  <p:sldIdLst>
    <p:sldId xmlns:r="http://schemas.openxmlformats.org/officeDocument/2006/relationships" id="256" r:id="Rb4912997ff1b45d3"/>
    <p:sldId xmlns:r="http://schemas.openxmlformats.org/officeDocument/2006/relationships" id="257" r:id="R80079c8b6dcc46c2"/>
    <p:sldId xmlns:r="http://schemas.openxmlformats.org/officeDocument/2006/relationships" id="258" r:id="Re7d914b90b4447e3"/>
    <p:sldId xmlns:r="http://schemas.openxmlformats.org/officeDocument/2006/relationships" id="259" r:id="R3e966dc156e3410f"/>
    <p:sldId xmlns:r="http://schemas.openxmlformats.org/officeDocument/2006/relationships" id="260" r:id="R99c4158cf6e240a1"/>
    <p:sldId xmlns:r="http://schemas.openxmlformats.org/officeDocument/2006/relationships" id="261" r:id="R1c374c393587483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1bef9dbb9384fd0" /><Relationship Type="http://schemas.openxmlformats.org/officeDocument/2006/relationships/slideMaster" Target="/ppt/slideMasters/slideMaster1.xml" Id="R20c2ea08ea0143d4" /><Relationship Type="http://schemas.openxmlformats.org/officeDocument/2006/relationships/notesMaster" Target="/ppt/notesMasters/notesMaster1.xml" Id="R9f3e9bc7c93d40e0" /><Relationship Type="http://schemas.openxmlformats.org/officeDocument/2006/relationships/presProps" Target="/ppt/presProps.xml" Id="R7fd4b586e8364b9d" /><Relationship Type="http://schemas.openxmlformats.org/officeDocument/2006/relationships/tableStyles" Target="/ppt/tableStyles.xml" Id="R97db1c4a16c64320" /><Relationship Type="http://schemas.openxmlformats.org/officeDocument/2006/relationships/slide" Target="/ppt/slides/slide1.xml" Id="Rb4912997ff1b45d3" /><Relationship Type="http://schemas.openxmlformats.org/officeDocument/2006/relationships/slide" Target="/ppt/slides/slide2.xml" Id="R80079c8b6dcc46c2" /><Relationship Type="http://schemas.openxmlformats.org/officeDocument/2006/relationships/slide" Target="/ppt/slides/slide3.xml" Id="Re7d914b90b4447e3" /><Relationship Type="http://schemas.openxmlformats.org/officeDocument/2006/relationships/slide" Target="/ppt/slides/slide4.xml" Id="R3e966dc156e3410f" /><Relationship Type="http://schemas.openxmlformats.org/officeDocument/2006/relationships/slide" Target="/ppt/slides/slide5.xml" Id="R99c4158cf6e240a1" /><Relationship Type="http://schemas.openxmlformats.org/officeDocument/2006/relationships/slide" Target="/ppt/slides/slide6.xml" Id="R1c374c393587483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553011427134aa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fc91b855fc149b7" /><Relationship Type="http://schemas.openxmlformats.org/officeDocument/2006/relationships/notesMaster" Target="/ppt/notesMasters/notesMaster1.xml" Id="Rc8acf14099b44c2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492e984c4994d97" /><Relationship Type="http://schemas.openxmlformats.org/officeDocument/2006/relationships/notesMaster" Target="/ppt/notesMasters/notesMaster1.xml" Id="Rdf8c7d9c728d4b2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dc30e9d51864d1d" /><Relationship Type="http://schemas.openxmlformats.org/officeDocument/2006/relationships/notesMaster" Target="/ppt/notesMasters/notesMaster1.xml" Id="R0ba6f3fcf68645f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966cb2b17634230" /><Relationship Type="http://schemas.openxmlformats.org/officeDocument/2006/relationships/notesMaster" Target="/ppt/notesMasters/notesMaster1.xml" Id="R301b3ddc50a6424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bed6f5cc66e49cb" /><Relationship Type="http://schemas.openxmlformats.org/officeDocument/2006/relationships/notesMaster" Target="/ppt/notesMasters/notesMaster1.xml" Id="R4d6016642f984fb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853035f45274e0d" /><Relationship Type="http://schemas.openxmlformats.org/officeDocument/2006/relationships/notesMaster" Target="/ppt/notesMasters/notesMaster1.xml" Id="R41b48f86a4054d2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FSHING is a fishing game where the lake is also a marketplace.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In-game lake environment: src/assets/lake-chart.png</a:t>
            </a:r>
          </a:p>
          <a:p xmlns:a="http://schemas.openxmlformats.org/drawingml/2006/main">
            <a:r>
              <a:t>- Project wordmark: src/assets/fshing-wordmark.png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 not just catch fish. You read today's quote and choose a target before leaving the harbour.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screenshot: Docs/incursion/screenshots/04-market-detail.png</a:t>
            </a:r>
          </a:p>
          <a:p xmlns:a="http://schemas.openxmlformats.org/drawingml/2006/main">
            <a:r>
              <a:t>- Game rules: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systems support one another: the market creates a route, fishing creates cargo, and upgrades change the next trip.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Core loop and upgrades: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boat is the visible player character. Its crane, crate, and lantern show what it does before the player reads a rule.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Production boat: src/assets/player-boat.png</a:t>
            </a:r>
          </a:p>
          <a:p xmlns:a="http://schemas.openxmlformats.org/drawingml/2006/main">
            <a:r>
              <a:t>- Transparent presentation derivative: Docs/incursion/assets/working-boat-transparent.png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Fishing is not a hold-to-fill meter. The fish runs, the line tightens, and the player must release to let it take 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screenshot: Docs/incursion/screenshots/08-fishing.png</a:t>
            </a:r>
          </a:p>
          <a:p xmlns:a="http://schemas.openxmlformats.org/drawingml/2006/main">
            <a:r>
              <a:t>- Fishing rules: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FSHING teaches through consequence: read the market, act on the information, and see whether the trip paid off.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screenshots: Docs/incursion/screenshots/03-market.png, 07-tracked-sailing.png, 08-fishing.png</a:t>
            </a:r>
          </a:p>
          <a:p xmlns:a="http://schemas.openxmlformats.org/drawingml/2006/main">
            <a:r>
              <a:t>- Project wordmark: src/assets/fshing-wordmark.png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37afc791ac487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af6c37999544df1" /><Relationship Type="http://schemas.openxmlformats.org/officeDocument/2006/relationships/slideLayout" Target="/ppt/slideLayouts/slideLayout1.xml" Id="R34f1be78ae5a468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4f1be78ae5a468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074dc86e524ef0" /><Relationship Type="http://schemas.openxmlformats.org/officeDocument/2006/relationships/image" Target="/ppt/media/image.png" Id="R03e6c6a042f34cff" /><Relationship Type="http://schemas.openxmlformats.org/officeDocument/2006/relationships/image" Target="/ppt/media/image2.png" Id="Ra095ba03f6d543d0" /><Relationship Type="http://schemas.openxmlformats.org/officeDocument/2006/relationships/notesSlide" Target="/ppt/notesSlides/notesSlide1.xml" Id="R1d3531cf71ff4c0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9b658d9fcf4ee4" /><Relationship Type="http://schemas.openxmlformats.org/officeDocument/2006/relationships/image" Target="/ppt/media/image3.png" Id="R96bb6d1e46aa41e3" /><Relationship Type="http://schemas.openxmlformats.org/officeDocument/2006/relationships/image" Target="/ppt/media/image4.png" Id="Rb0c0d9d108a748ce" /><Relationship Type="http://schemas.openxmlformats.org/officeDocument/2006/relationships/notesSlide" Target="/ppt/notesSlides/notesSlide2.xml" Id="R380f02cb775e4d2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6309fbea3a42b2" /><Relationship Type="http://schemas.openxmlformats.org/officeDocument/2006/relationships/image" Target="/ppt/media/image5.png" Id="Rd6f58a8331104554" /><Relationship Type="http://schemas.openxmlformats.org/officeDocument/2006/relationships/notesSlide" Target="/ppt/notesSlides/notesSlide3.xml" Id="R8c122c01499a46e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b7235f406a43ab" /><Relationship Type="http://schemas.openxmlformats.org/officeDocument/2006/relationships/image" Target="/ppt/media/image6.png" Id="R34b94ba069cd4669" /><Relationship Type="http://schemas.openxmlformats.org/officeDocument/2006/relationships/image" Target="/ppt/media/image7.png" Id="R6060937f0eef49d4" /><Relationship Type="http://schemas.openxmlformats.org/officeDocument/2006/relationships/notesSlide" Target="/ppt/notesSlides/notesSlide4.xml" Id="R508e957d79cb45e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2d0b9a4f304ad9" /><Relationship Type="http://schemas.openxmlformats.org/officeDocument/2006/relationships/image" Target="/ppt/media/image8.png" Id="Rbff7b32ebbd64942" /><Relationship Type="http://schemas.openxmlformats.org/officeDocument/2006/relationships/notesSlide" Target="/ppt/notesSlides/notesSlide5.xml" Id="Rdb5dfdb89a90456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922113e2314750" /><Relationship Type="http://schemas.openxmlformats.org/officeDocument/2006/relationships/image" Target="/ppt/media/image9.png" Id="Rb16d8f9c119f494c" /><Relationship Type="http://schemas.openxmlformats.org/officeDocument/2006/relationships/image" Target="/ppt/media/image10.png" Id="R40e43131772f4425" /><Relationship Type="http://schemas.openxmlformats.org/officeDocument/2006/relationships/image" Target="/ppt/media/image11.png" Id="R73f9d083d6474f7b" /><Relationship Type="http://schemas.openxmlformats.org/officeDocument/2006/relationships/image" Target="/ppt/media/image12.png" Id="Raea2e6ff1b014826" /><Relationship Type="http://schemas.openxmlformats.org/officeDocument/2006/relationships/notesSlide" Target="/ppt/notesSlides/notesSlide6.xml" Id="R8416c6c7ae3c46e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e6c6a042f34cff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title-wash">
            <a:extLst xmlns:a="http://schemas.openxmlformats.org/drawingml/2006/main">
              <a:ext uri="{FF2B5EF4-FFF2-40B4-BE49-F238E27FC236}">
                <a16:creationId xmlns:a16="http://schemas.microsoft.com/office/drawing/2014/main" id="{DFEF3E70-2945-44D2-A34D-DD5432E25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62D35">
              <a:alpha val="72157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95ba03f6d543d0"/>
          <a:stretch xmlns:a="http://schemas.openxmlformats.org/drawingml/2006/main"/>
        </p:blipFill>
        <p:spPr>
          <a:xfrm xmlns:a="http://schemas.openxmlformats.org/drawingml/2006/main">
            <a:off x="4095750" y="1000125"/>
            <a:ext cx="4000500" cy="2667000"/>
          </a:xfrm>
          <a:prstGeom xmlns:a="http://schemas.openxmlformats.org/drawingml/2006/main" prst="rect">
            <a:avLst/>
          </a:prstGeom>
        </p:spPr>
      </p:pic>
      <p:sp>
        <p:nvSpPr>
          <p:cNvPr id="4" name="tagline">
            <a:extLst xmlns:a="http://schemas.openxmlformats.org/drawingml/2006/main">
              <a:ext uri="{FF2B5EF4-FFF2-40B4-BE49-F238E27FC236}">
                <a16:creationId xmlns:a16="http://schemas.microsoft.com/office/drawing/2014/main" id="{2460AF74-69E2-4813-99E6-77CBF4AE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52875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6EDDA"/>
                </a:solidFill>
              </a:defRPr>
            </a:pPr>
            <a:r>
              <a:rPr sz="1950" b="1">
                <a:solidFill>
                  <a:srgbClr val="F6EDDA"/>
                </a:solidFill>
              </a:rPr>
              <a:t>CATCH THE FISH. SELL YOUR HAUL. ENHANCE YOUR EQUIPMENT.</a:t>
            </a:r>
          </a:p>
        </p:txBody>
      </p:sp>
      <p:sp>
        <p:nvSpPr>
          <p:cNvPr id="5" name="team">
            <a:extLst xmlns:a="http://schemas.openxmlformats.org/drawingml/2006/main">
              <a:ext uri="{FF2B5EF4-FFF2-40B4-BE49-F238E27FC236}">
                <a16:creationId xmlns:a16="http://schemas.microsoft.com/office/drawing/2014/main" id="{52A9E62C-31F6-4BBB-B775-1BC06F1A6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8102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>
                <a:solidFill>
                  <a:srgbClr val="E8F0EC">
                    <a:alpha val="80000"/>
                  </a:srgbClr>
                </a:solidFill>
              </a:defRPr>
            </a:pPr>
            <a:r>
              <a:rPr sz="1350">
                <a:solidFill>
                  <a:srgbClr val="E8F0EC">
                    <a:alpha val="80000"/>
                  </a:srgbClr>
                </a:solidFill>
              </a:rPr>
              <a:t>Liam  ·  Saxon  ·  Harrison  ·  David</a:t>
            </a:r>
          </a:p>
        </p:txBody>
      </p:sp>
    </p:spTree>
    <p:extLst>
      <p:ext uri="{BB962C8B-B14F-4D97-AF65-F5344CB8AC3E}">
        <p14:creationId xmlns:p14="http://schemas.microsoft.com/office/powerpoint/2010/main" val="6109909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bb6d1e46aa41e3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8DE60164-DAE7-440C-B129-88841F7EA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THE IDEA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03507D43-82E7-4C3A-B5A5-52D8DED73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95375"/>
            <a:ext cx="4857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062D35"/>
                </a:solidFill>
              </a:defRPr>
            </a:pPr>
            <a:r>
              <a:rPr sz="3900" b="1">
                <a:solidFill>
                  <a:srgbClr val="062D35"/>
                </a:solidFill>
              </a:rPr>
              <a:t>Every trip begins with a price.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BB8D9A37-9E72-4AF7-9EAF-EFD05FF76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447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>
                <a:solidFill>
                  <a:srgbClr val="0B4651"/>
                </a:solidFill>
              </a:defRPr>
            </a:pPr>
            <a:r>
              <a:rPr sz="1950">
                <a:solidFill>
                  <a:srgbClr val="0B4651"/>
                </a:solidFill>
              </a:rPr>
              <a:t>Compare the current fish prices across the market. Choose what you want to catch.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c0d9d108a748ce"/>
          <a:srcRect xmlns:a="http://schemas.openxmlformats.org/drawingml/2006/main" l="14694" t="0" r="1469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05500" y="1123950"/>
            <a:ext cx="5619750" cy="4476750"/>
          </a:xfrm>
          <a:prstGeom xmlns:a="http://schemas.openxmlformats.org/drawingml/2006/main" prst="roundRect">
            <a:avLst>
              <a:gd name="adj" fmla="val 3404"/>
            </a:avLst>
          </a:prstGeom>
        </p:spPr>
      </p:pic>
      <p:sp>
        <p:nvSpPr>
          <p:cNvPr id="6" name="orange-rule">
            <a:extLst xmlns:a="http://schemas.openxmlformats.org/drawingml/2006/main">
              <a:ext uri="{FF2B5EF4-FFF2-40B4-BE49-F238E27FC236}">
                <a16:creationId xmlns:a16="http://schemas.microsoft.com/office/drawing/2014/main" id="{5623F1F6-DCB9-4433-9B39-212F90A64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37147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43A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392091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62D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f58a8331104554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3AC602C3-9D43-427A-8313-8A5466C6F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685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F6EDDA"/>
                </a:solidFill>
              </a:defRPr>
            </a:pPr>
            <a:r>
              <a:rPr sz="3600" b="1">
                <a:solidFill>
                  <a:srgbClr val="F6EDDA"/>
                </a:solidFill>
              </a:rPr>
              <a:t>The game loop</a:t>
            </a:r>
          </a:p>
        </p:txBody>
      </p:sp>
      <p:sp>
        <p:nvSpPr>
          <p:cNvPr id="9" name="step-2">
            <a:extLst xmlns:a="http://schemas.openxmlformats.org/drawingml/2006/main">
              <a:ext uri="{FF2B5EF4-FFF2-40B4-BE49-F238E27FC236}">
                <a16:creationId xmlns:a16="http://schemas.microsoft.com/office/drawing/2014/main" id="{336CA752-3331-4DC5-A18D-C592E7E2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icon-2">
            <a:extLst xmlns:a="http://schemas.openxmlformats.org/drawingml/2006/main">
              <a:ext uri="{FF2B5EF4-FFF2-40B4-BE49-F238E27FC236}">
                <a16:creationId xmlns:a16="http://schemas.microsoft.com/office/drawing/2014/main" id="{8608BBBF-1735-4157-AD92-A0BB4C06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➤</a:t>
            </a:r>
          </a:p>
        </p:txBody>
      </p:sp>
      <p:sp>
        <p:nvSpPr>
          <p:cNvPr id="11" name="label-2">
            <a:extLst xmlns:a="http://schemas.openxmlformats.org/drawingml/2006/main">
              <a:ext uri="{FF2B5EF4-FFF2-40B4-BE49-F238E27FC236}">
                <a16:creationId xmlns:a16="http://schemas.microsoft.com/office/drawing/2014/main" id="{C6450E40-C53A-44FB-9E4E-8D3AC8641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SAIL</a:t>
            </a:r>
          </a:p>
        </p:txBody>
      </p:sp>
      <p:sp>
        <p:nvSpPr>
          <p:cNvPr id="12" name="arrow-2">
            <a:extLst xmlns:a="http://schemas.openxmlformats.org/drawingml/2006/main">
              <a:ext uri="{FF2B5EF4-FFF2-40B4-BE49-F238E27FC236}">
                <a16:creationId xmlns:a16="http://schemas.microsoft.com/office/drawing/2014/main" id="{4BDE52E1-6799-402E-9BB6-DF8E04761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13" name="step-3">
            <a:extLst xmlns:a="http://schemas.openxmlformats.org/drawingml/2006/main">
              <a:ext uri="{FF2B5EF4-FFF2-40B4-BE49-F238E27FC236}">
                <a16:creationId xmlns:a16="http://schemas.microsoft.com/office/drawing/2014/main" id="{801669F4-025C-422B-8356-DAFAD06E7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icon-3">
            <a:extLst xmlns:a="http://schemas.openxmlformats.org/drawingml/2006/main">
              <a:ext uri="{FF2B5EF4-FFF2-40B4-BE49-F238E27FC236}">
                <a16:creationId xmlns:a16="http://schemas.microsoft.com/office/drawing/2014/main" id="{F66DE995-68F0-4850-881C-199328C74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⌁</a:t>
            </a:r>
          </a:p>
        </p:txBody>
      </p:sp>
      <p:sp>
        <p:nvSpPr>
          <p:cNvPr id="15" name="label-3">
            <a:extLst xmlns:a="http://schemas.openxmlformats.org/drawingml/2006/main">
              <a:ext uri="{FF2B5EF4-FFF2-40B4-BE49-F238E27FC236}">
                <a16:creationId xmlns:a16="http://schemas.microsoft.com/office/drawing/2014/main" id="{858BF3FB-3D3B-4C25-8FD6-16AD2E5F2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FISH</a:t>
            </a:r>
          </a:p>
        </p:txBody>
      </p:sp>
      <p:sp>
        <p:nvSpPr>
          <p:cNvPr id="16" name="arrow-3">
            <a:extLst xmlns:a="http://schemas.openxmlformats.org/drawingml/2006/main">
              <a:ext uri="{FF2B5EF4-FFF2-40B4-BE49-F238E27FC236}">
                <a16:creationId xmlns:a16="http://schemas.microsoft.com/office/drawing/2014/main" id="{6F0808AC-D8F0-41E8-8713-B3465111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17" name="step-4">
            <a:extLst xmlns:a="http://schemas.openxmlformats.org/drawingml/2006/main">
              <a:ext uri="{FF2B5EF4-FFF2-40B4-BE49-F238E27FC236}">
                <a16:creationId xmlns:a16="http://schemas.microsoft.com/office/drawing/2014/main" id="{DD25F9E3-10D2-41A9-BDE0-CC84DDB97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icon-4">
            <a:extLst xmlns:a="http://schemas.openxmlformats.org/drawingml/2006/main">
              <a:ext uri="{FF2B5EF4-FFF2-40B4-BE49-F238E27FC236}">
                <a16:creationId xmlns:a16="http://schemas.microsoft.com/office/drawing/2014/main" id="{4A35D1C2-15DD-421F-90D0-29CEC1D4E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$</a:t>
            </a:r>
          </a:p>
        </p:txBody>
      </p:sp>
      <p:sp>
        <p:nvSpPr>
          <p:cNvPr id="19" name="label-4">
            <a:extLst xmlns:a="http://schemas.openxmlformats.org/drawingml/2006/main">
              <a:ext uri="{FF2B5EF4-FFF2-40B4-BE49-F238E27FC236}">
                <a16:creationId xmlns:a16="http://schemas.microsoft.com/office/drawing/2014/main" id="{8092D2F5-A6E3-4646-AD63-352B8274B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SELL</a:t>
            </a:r>
          </a:p>
        </p:txBody>
      </p:sp>
      <p:sp>
        <p:nvSpPr>
          <p:cNvPr id="20" name="arrow-4">
            <a:extLst xmlns:a="http://schemas.openxmlformats.org/drawingml/2006/main">
              <a:ext uri="{FF2B5EF4-FFF2-40B4-BE49-F238E27FC236}">
                <a16:creationId xmlns:a16="http://schemas.microsoft.com/office/drawing/2014/main" id="{3E209012-DCFA-4D85-A026-0AE844C85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21" name="step-5">
            <a:extLst xmlns:a="http://schemas.openxmlformats.org/drawingml/2006/main">
              <a:ext uri="{FF2B5EF4-FFF2-40B4-BE49-F238E27FC236}">
                <a16:creationId xmlns:a16="http://schemas.microsoft.com/office/drawing/2014/main" id="{585EB6AE-E207-49E4-B93D-E022F3E6F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icon-5">
            <a:extLst xmlns:a="http://schemas.openxmlformats.org/drawingml/2006/main">
              <a:ext uri="{FF2B5EF4-FFF2-40B4-BE49-F238E27FC236}">
                <a16:creationId xmlns:a16="http://schemas.microsoft.com/office/drawing/2014/main" id="{6EF58F98-1E71-4984-9892-63F74932E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↑</a:t>
            </a:r>
          </a:p>
        </p:txBody>
      </p:sp>
      <p:sp>
        <p:nvSpPr>
          <p:cNvPr id="23" name="label-5">
            <a:extLst xmlns:a="http://schemas.openxmlformats.org/drawingml/2006/main">
              <a:ext uri="{FF2B5EF4-FFF2-40B4-BE49-F238E27FC236}">
                <a16:creationId xmlns:a16="http://schemas.microsoft.com/office/drawing/2014/main" id="{B4061397-2AA3-45E5-BC09-B82D7E2F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UPGRADE</a:t>
            </a:r>
          </a:p>
        </p:txBody>
      </p:sp>
      <p:sp>
        <p:nvSpPr>
          <p:cNvPr id="24" name="arrow-5">
            <a:extLst xmlns:a="http://schemas.openxmlformats.org/drawingml/2006/main">
              <a:ext uri="{FF2B5EF4-FFF2-40B4-BE49-F238E27FC236}">
                <a16:creationId xmlns:a16="http://schemas.microsoft.com/office/drawing/2014/main" id="{D1836FFE-4485-4F8A-A274-B3121BE5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25" name="step-6">
            <a:extLst xmlns:a="http://schemas.openxmlformats.org/drawingml/2006/main">
              <a:ext uri="{FF2B5EF4-FFF2-40B4-BE49-F238E27FC236}">
                <a16:creationId xmlns:a16="http://schemas.microsoft.com/office/drawing/2014/main" id="{AC855D2B-5D37-4783-8F28-83CB871DD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icon-6">
            <a:extLst xmlns:a="http://schemas.openxmlformats.org/drawingml/2006/main">
              <a:ext uri="{FF2B5EF4-FFF2-40B4-BE49-F238E27FC236}">
                <a16:creationId xmlns:a16="http://schemas.microsoft.com/office/drawing/2014/main" id="{F264657D-D8F9-43EC-A891-3DF531B8C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↻</a:t>
            </a:r>
          </a:p>
        </p:txBody>
      </p:sp>
      <p:sp>
        <p:nvSpPr>
          <p:cNvPr id="27" name="label-6">
            <a:extLst xmlns:a="http://schemas.openxmlformats.org/drawingml/2006/main">
              <a:ext uri="{FF2B5EF4-FFF2-40B4-BE49-F238E27FC236}">
                <a16:creationId xmlns:a16="http://schemas.microsoft.com/office/drawing/2014/main" id="{2A97428B-591C-4B82-A7BE-86935BFD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REPEAT</a:t>
            </a:r>
          </a:p>
        </p:txBody>
      </p:sp>
      <p:sp>
        <p:nvSpPr>
          <p:cNvPr id="28" name="footer">
            <a:extLst xmlns:a="http://schemas.openxmlformats.org/drawingml/2006/main">
              <a:ext uri="{FF2B5EF4-FFF2-40B4-BE49-F238E27FC236}">
                <a16:creationId xmlns:a16="http://schemas.microsoft.com/office/drawing/2014/main" id="{C1372BD4-5EA8-400C-8D5A-340C3328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19625"/>
            <a:ext cx="857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>
                <a:solidFill>
                  <a:srgbClr val="E8F0EC"/>
                </a:solidFill>
              </a:defRPr>
            </a:pPr>
            <a:r>
              <a:rPr sz="2250">
                <a:solidFill>
                  <a:srgbClr val="E8F0EC"/>
                </a:solidFill>
              </a:rPr>
              <a:t>Capacity, speed, depth, and reel control change what the next trip can achieve.</a:t>
            </a:r>
          </a:p>
        </p:txBody>
      </p:sp>
    </p:spTree>
    <p:extLst>
      <p:ext uri="{BB962C8B-B14F-4D97-AF65-F5344CB8AC3E}">
        <p14:creationId xmlns:p14="http://schemas.microsoft.com/office/powerpoint/2010/main" val="116810375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b94ba069cd4669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6434B0C8-4AC1-48EA-9DCD-76CAFBB4A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MAIN CHARACTER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5584A3D9-C64C-41AD-BC8E-0AF5C2EC2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4095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62D35"/>
                </a:solidFill>
              </a:defRPr>
            </a:pPr>
            <a:r>
              <a:rPr sz="3300" b="1">
                <a:solidFill>
                  <a:srgbClr val="062D35"/>
                </a:solidFill>
              </a:rPr>
              <a:t>A small working boat.</a:t>
            </a:r>
          </a:p>
          <a:p xmlns:a="http://schemas.openxmlformats.org/drawingml/2006/main">
            <a:pPr>
              <a:buNone/>
              <a:defRPr sz="3300" b="1">
                <a:solidFill>
                  <a:srgbClr val="062D35"/>
                </a:solidFill>
              </a:defRPr>
            </a:pPr>
            <a:r>
              <a:rPr sz="3300" b="1">
                <a:solidFill>
                  <a:srgbClr val="062D35"/>
                </a:solidFill>
              </a:rPr>
              <a:t>A long way to go.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60937f0eef49d4"/>
          <a:stretch xmlns:a="http://schemas.openxmlformats.org/drawingml/2006/main"/>
        </p:blipFill>
        <p:spPr>
          <a:xfrm xmlns:a="http://schemas.openxmlformats.org/drawingml/2006/main">
            <a:off x="5310188" y="1190625"/>
            <a:ext cx="6143625" cy="4095750"/>
          </a:xfrm>
          <a:prstGeom xmlns:a="http://schemas.openxmlformats.org/drawingml/2006/main" prst="rect">
            <a:avLst/>
          </a:prstGeom>
        </p:spPr>
      </p:pic>
      <p:sp>
        <p:nvSpPr>
          <p:cNvPr id="5" name="traits">
            <a:extLst xmlns:a="http://schemas.openxmlformats.org/drawingml/2006/main">
              <a:ext uri="{FF2B5EF4-FFF2-40B4-BE49-F238E27FC236}">
                <a16:creationId xmlns:a16="http://schemas.microsoft.com/office/drawing/2014/main" id="{AEBCA980-6BEC-479F-A4C0-9E51BF1E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3238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WEATHERED HULL</a:t>
            </a:r>
          </a:p>
          <a:p xmlns:a="http://schemas.openxmlformats.org/drawingml/2006/main">
            <a:pPr>
              <a:buNone/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HOOK CRANE</a:t>
            </a:r>
          </a:p>
          <a:p xmlns:a="http://schemas.openxmlformats.org/drawingml/2006/main">
            <a:pPr>
              <a:buNone/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CARGO CRATE</a:t>
            </a:r>
          </a:p>
          <a:p xmlns:a="http://schemas.openxmlformats.org/drawingml/2006/main">
            <a:pPr>
              <a:buNone/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WARM LANTERN</a:t>
            </a:r>
          </a:p>
        </p:txBody>
      </p:sp>
      <p:sp>
        <p:nvSpPr>
          <p:cNvPr id="6" name="caption">
            <a:extLst xmlns:a="http://schemas.openxmlformats.org/drawingml/2006/main">
              <a:ext uri="{FF2B5EF4-FFF2-40B4-BE49-F238E27FC236}">
                <a16:creationId xmlns:a16="http://schemas.microsoft.com/office/drawing/2014/main" id="{A513FD7F-AB66-4B8A-8335-7112BDB26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552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62D35"/>
                </a:solidFill>
              </a:defRPr>
            </a:pPr>
            <a:r>
              <a:rPr sz="1800">
                <a:solidFill>
                  <a:srgbClr val="062D35"/>
                </a:solidFill>
              </a:rPr>
              <a:t>The boat grows through mechanics, not dialogue.</a:t>
            </a:r>
          </a:p>
        </p:txBody>
      </p:sp>
    </p:spTree>
    <p:extLst>
      <p:ext uri="{BB962C8B-B14F-4D97-AF65-F5344CB8AC3E}">
        <p14:creationId xmlns:p14="http://schemas.microsoft.com/office/powerpoint/2010/main" val="12146925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f7b32ebbd6494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left-wash">
            <a:extLst xmlns:a="http://schemas.openxmlformats.org/drawingml/2006/main">
              <a:ext uri="{FF2B5EF4-FFF2-40B4-BE49-F238E27FC236}">
                <a16:creationId xmlns:a16="http://schemas.microsoft.com/office/drawing/2014/main" id="{608AAC6B-6BAE-48A8-ABBE-878AFF54E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095875" cy="6858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62D35">
              <a:alpha val="96078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8BD194B5-C9E6-4149-A1AC-341843D1C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24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THE FIGHT</a:t>
            </a:r>
          </a:p>
        </p:txBody>
      </p:sp>
      <p:sp>
        <p:nvSpPr>
          <p:cNvPr id="5" name="headline">
            <a:extLst xmlns:a="http://schemas.openxmlformats.org/drawingml/2006/main">
              <a:ext uri="{FF2B5EF4-FFF2-40B4-BE49-F238E27FC236}">
                <a16:creationId xmlns:a16="http://schemas.microsoft.com/office/drawing/2014/main" id="{9F87284D-FF28-4ABE-8867-696BF08C5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04900"/>
            <a:ext cx="3952875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6EDDA"/>
                </a:solidFill>
              </a:defRPr>
            </a:pPr>
            <a:r>
              <a:rPr sz="3450" b="1">
                <a:solidFill>
                  <a:srgbClr val="F6EDDA"/>
                </a:solidFill>
              </a:rPr>
              <a:t>Reel when it is calm. Release when it runs.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EB2644FF-57D4-4BED-B9F1-FD13A8842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81375"/>
            <a:ext cx="3810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8F0EC"/>
                </a:solidFill>
              </a:defRPr>
            </a:pPr>
            <a:r>
              <a:rPr sz="1800">
                <a:solidFill>
                  <a:srgbClr val="E8F0EC"/>
                </a:solidFill>
              </a:rPr>
              <a:t>The line curves, thickens, and changes colour as tension rises. Later fish demand better timing and deeper gear.</a:t>
            </a:r>
          </a:p>
        </p:txBody>
      </p:sp>
      <p:sp>
        <p:nvSpPr>
          <p:cNvPr id="7" name="proof">
            <a:extLst xmlns:a="http://schemas.openxmlformats.org/drawingml/2006/main">
              <a:ext uri="{FF2B5EF4-FFF2-40B4-BE49-F238E27FC236}">
                <a16:creationId xmlns:a16="http://schemas.microsoft.com/office/drawing/2014/main" id="{F42263C6-E1B3-44F1-9845-DEFD27450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055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2A43A"/>
                </a:solidFill>
              </a:defRPr>
            </a:pPr>
            <a:r>
              <a:rPr sz="1200" b="1">
                <a:solidFill>
                  <a:srgbClr val="F2A43A"/>
                </a:solidFill>
              </a:rPr>
              <a:t>ALL IMAGES ARE CAPTURED IN GAME</a:t>
            </a:r>
          </a:p>
        </p:txBody>
      </p:sp>
    </p:spTree>
    <p:extLst>
      <p:ext uri="{BB962C8B-B14F-4D97-AF65-F5344CB8AC3E}">
        <p14:creationId xmlns:p14="http://schemas.microsoft.com/office/powerpoint/2010/main" val="131542581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6d8f9c119f494c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1A948238-06FB-4995-B801-F3A75D278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62000"/>
            <a:ext cx="1000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900" b="1">
                <a:solidFill>
                  <a:srgbClr val="062D35"/>
                </a:solidFill>
              </a:defRPr>
            </a:pPr>
            <a:r>
              <a:rPr sz="3900" b="1">
                <a:solidFill>
                  <a:srgbClr val="062D35"/>
                </a:solidFill>
              </a:rPr>
              <a:t>A market you can sail across.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e43131772f4425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4" name="cap-0">
            <a:extLst xmlns:a="http://schemas.openxmlformats.org/drawingml/2006/main">
              <a:ext uri="{FF2B5EF4-FFF2-40B4-BE49-F238E27FC236}">
                <a16:creationId xmlns:a16="http://schemas.microsoft.com/office/drawing/2014/main" id="{CD8510CE-535E-4FF0-9891-C2C89631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B4651"/>
                </a:solidFill>
              </a:defRPr>
            </a:pPr>
            <a:r>
              <a:rPr sz="1725" b="1">
                <a:solidFill>
                  <a:srgbClr val="0B4651"/>
                </a:solidFill>
              </a:rPr>
              <a:t>READ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f9d083d6474f7b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24375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6" name="cap-1">
            <a:extLst xmlns:a="http://schemas.openxmlformats.org/drawingml/2006/main">
              <a:ext uri="{FF2B5EF4-FFF2-40B4-BE49-F238E27FC236}">
                <a16:creationId xmlns:a16="http://schemas.microsoft.com/office/drawing/2014/main" id="{0DA5948D-886C-4755-8817-ED6C600D3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2A43A"/>
                </a:solidFill>
              </a:defRPr>
            </a:pPr>
            <a:r>
              <a:rPr sz="1725" b="1">
                <a:solidFill>
                  <a:srgbClr val="F2A43A"/>
                </a:solidFill>
              </a:rPr>
              <a:t>TRAVEL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a2e6ff1b014826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82000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8" name="cap-2">
            <a:extLst xmlns:a="http://schemas.openxmlformats.org/drawingml/2006/main">
              <a:ext uri="{FF2B5EF4-FFF2-40B4-BE49-F238E27FC236}">
                <a16:creationId xmlns:a16="http://schemas.microsoft.com/office/drawing/2014/main" id="{996284A5-0F0A-4D4C-99BB-F2E155B2C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B4651"/>
                </a:solidFill>
              </a:defRPr>
            </a:pPr>
            <a:r>
              <a:rPr sz="1725" b="1">
                <a:solidFill>
                  <a:srgbClr val="0B4651"/>
                </a:solidFill>
              </a:rPr>
              <a:t>CATCH</a:t>
            </a:r>
          </a:p>
        </p:txBody>
      </p:sp>
      <p:sp>
        <p:nvSpPr>
          <p:cNvPr id="9" name="close">
            <a:extLst xmlns:a="http://schemas.openxmlformats.org/drawingml/2006/main">
              <a:ext uri="{FF2B5EF4-FFF2-40B4-BE49-F238E27FC236}">
                <a16:creationId xmlns:a16="http://schemas.microsoft.com/office/drawing/2014/main" id="{F300F8C9-88BC-4A9A-B3B2-9048B20E2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72125"/>
            <a:ext cx="876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>
                <a:solidFill>
                  <a:srgbClr val="062D35"/>
                </a:solidFill>
              </a:defRPr>
            </a:pPr>
            <a:r>
              <a:rPr sz="2100">
                <a:solidFill>
                  <a:srgbClr val="062D35"/>
                </a:solidFill>
              </a:rPr>
              <a:t>FSHING turns observation, timing, and trade-offs into one short browser loop.</a:t>
            </a:r>
          </a:p>
        </p:txBody>
      </p:sp>
    </p:spTree>
    <p:extLst>
      <p:ext uri="{BB962C8B-B14F-4D97-AF65-F5344CB8AC3E}">
        <p14:creationId xmlns:p14="http://schemas.microsoft.com/office/powerpoint/2010/main" val="10177720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2026-08-29T21:44:17.9090000Z</dcterms:created>
  <dcterms:modified xsi:type="dcterms:W3CDTF">2026-08-29T21:44:17.9090000Z</dcterms:modified>
</coreProperties>
</file>