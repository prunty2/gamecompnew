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3198d5297145f5" /><Relationship Type="http://schemas.openxmlformats.org/officeDocument/2006/relationships/extended-properties" Target="/docProps/app.xml" Id="R155683ff58124b3d" /><Relationship Type="http://schemas.openxmlformats.org/officeDocument/2006/relationships/officeDocument" Target="/ppt/presentation.xml" Id="R7801a65fcaf040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3f4f9b4a7f4184"/>
  </p:sldMasterIdLst>
  <p:notesMasterIdLst>
    <p:notesMasterId xmlns:r="http://schemas.openxmlformats.org/officeDocument/2006/relationships" r:id="R3e2dcb0dda8047a4"/>
  </p:notesMasterIdLst>
  <p:sldIdLst>
    <p:sldId xmlns:r="http://schemas.openxmlformats.org/officeDocument/2006/relationships" id="256" r:id="R4005288a43bc48af"/>
    <p:sldId xmlns:r="http://schemas.openxmlformats.org/officeDocument/2006/relationships" id="257" r:id="Ra5487d33217149da"/>
    <p:sldId xmlns:r="http://schemas.openxmlformats.org/officeDocument/2006/relationships" id="258" r:id="Ra2ccc0da2266476f"/>
    <p:sldId xmlns:r="http://schemas.openxmlformats.org/officeDocument/2006/relationships" id="259" r:id="R453a2879e7204dc1"/>
    <p:sldId xmlns:r="http://schemas.openxmlformats.org/officeDocument/2006/relationships" id="260" r:id="Rf2d0ddd62fd949f1"/>
    <p:sldId xmlns:r="http://schemas.openxmlformats.org/officeDocument/2006/relationships" id="261" r:id="R561074d71d6c447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8a1c3db9594804" /><Relationship Type="http://schemas.openxmlformats.org/officeDocument/2006/relationships/slideMaster" Target="/ppt/slideMasters/slideMaster1.xml" Id="R123f4f9b4a7f4184" /><Relationship Type="http://schemas.openxmlformats.org/officeDocument/2006/relationships/notesMaster" Target="/ppt/notesMasters/notesMaster1.xml" Id="R3e2dcb0dda8047a4" /><Relationship Type="http://schemas.openxmlformats.org/officeDocument/2006/relationships/presProps" Target="/ppt/presProps.xml" Id="R3706381a7b47434a" /><Relationship Type="http://schemas.openxmlformats.org/officeDocument/2006/relationships/tableStyles" Target="/ppt/tableStyles.xml" Id="Rc843deb90ee34bc2" /><Relationship Type="http://schemas.openxmlformats.org/officeDocument/2006/relationships/slide" Target="/ppt/slides/slide1.xml" Id="R4005288a43bc48af" /><Relationship Type="http://schemas.openxmlformats.org/officeDocument/2006/relationships/slide" Target="/ppt/slides/slide2.xml" Id="Ra5487d33217149da" /><Relationship Type="http://schemas.openxmlformats.org/officeDocument/2006/relationships/slide" Target="/ppt/slides/slide3.xml" Id="Ra2ccc0da2266476f" /><Relationship Type="http://schemas.openxmlformats.org/officeDocument/2006/relationships/slide" Target="/ppt/slides/slide4.xml" Id="R453a2879e7204dc1" /><Relationship Type="http://schemas.openxmlformats.org/officeDocument/2006/relationships/slide" Target="/ppt/slides/slide5.xml" Id="Rf2d0ddd62fd949f1" /><Relationship Type="http://schemas.openxmlformats.org/officeDocument/2006/relationships/slide" Target="/ppt/slides/slide6.xml" Id="R561074d71d6c447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9f306dcdab45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5679c139e24921" /><Relationship Type="http://schemas.openxmlformats.org/officeDocument/2006/relationships/notesMaster" Target="/ppt/notesMasters/notesMaster1.xml" Id="R5c5831cef5ad42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f5051a72304556" /><Relationship Type="http://schemas.openxmlformats.org/officeDocument/2006/relationships/notesMaster" Target="/ppt/notesMasters/notesMaster1.xml" Id="R7e062bcca96e48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44dbf5d71a474c" /><Relationship Type="http://schemas.openxmlformats.org/officeDocument/2006/relationships/notesMaster" Target="/ppt/notesMasters/notesMaster1.xml" Id="R1049cbad13f643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985552d44b42f1" /><Relationship Type="http://schemas.openxmlformats.org/officeDocument/2006/relationships/notesMaster" Target="/ppt/notesMasters/notesMaster1.xml" Id="R1b5400a6f19c4b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1fb188451e4d02" /><Relationship Type="http://schemas.openxmlformats.org/officeDocument/2006/relationships/notesMaster" Target="/ppt/notesMasters/notesMaster1.xml" Id="R198fae9e1fb848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c04052e4b34308" /><Relationship Type="http://schemas.openxmlformats.org/officeDocument/2006/relationships/notesMaster" Target="/ppt/notesMasters/notesMaster1.xml" Id="R03a4210ae92b49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FSHING is a fishing game where the lake is also a marketplace.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game screenshot: Docs/incursion/screenshots/01-title-v0.9.0.png</a:t>
            </a:r>
          </a:p>
          <a:p xmlns:a="http://schemas.openxmlformats.org/drawingml/2006/main">
            <a:r>
              <a:t>- Project wordmark: src/assets/fshing-wordmark.png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 not just catch fish. You read today's quote and choose a target before leaving the harbour.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game screenshot: Docs/incursion/screenshots/04-market-detail.png</a:t>
            </a:r>
          </a:p>
          <a:p xmlns:a="http://schemas.openxmlformats.org/drawingml/2006/main">
            <a:r>
              <a:t>- Game rules: Docs/Game-Brief.md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systems support one another: the market creates a route, fishing creates cargo, and upgrades change the next trip.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Core loop and upgrades: Docs/Game-Brief.md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boat is the visible player character. Its crane, crate, and lantern show what it does before the player reads a rule.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Production boat: src/assets/player-boat.png</a:t>
            </a:r>
          </a:p>
          <a:p xmlns:a="http://schemas.openxmlformats.org/drawingml/2006/main">
            <a:r>
              <a:t>- Transparent presentation derivative: Docs/incursion/assets/working-boat-transparent.png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Fishing is not a hold-to-fill meter. The fish runs, the line tightens, and the player must release to let it take 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game screenshot: Docs/incursion/screenshots/08-fishing.png</a:t>
            </a:r>
          </a:p>
          <a:p xmlns:a="http://schemas.openxmlformats.org/drawingml/2006/main">
            <a:r>
              <a:t>- Fishing rules: Docs/Game-Brief.md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FSHING teaches through consequence: read the market, act on the information, and see whether the trip paid off.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game screenshots: Docs/incursion/screenshots/03-market.png, 07-tracked-sailing.png, 08-fishing.png</a:t>
            </a:r>
          </a:p>
          <a:p xmlns:a="http://schemas.openxmlformats.org/drawingml/2006/main">
            <a:r>
              <a:t>- Project wordmark: src/assets/fshing-wordmark.png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44e852ebbf4b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3504141bbd4ce8" /><Relationship Type="http://schemas.openxmlformats.org/officeDocument/2006/relationships/slideLayout" Target="/ppt/slideLayouts/slideLayout1.xml" Id="R986e272ce69743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86e272ce69743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ed6155d9ed4546" /><Relationship Type="http://schemas.openxmlformats.org/officeDocument/2006/relationships/image" Target="/ppt/media/image.png" Id="Rf2cf3b555e0e4e69" /><Relationship Type="http://schemas.openxmlformats.org/officeDocument/2006/relationships/image" Target="/ppt/media/image2.png" Id="Racbce10e851f40ec" /><Relationship Type="http://schemas.openxmlformats.org/officeDocument/2006/relationships/notesSlide" Target="/ppt/notesSlides/notesSlide1.xml" Id="R57d19e4b150445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1140ad5fa84853" /><Relationship Type="http://schemas.openxmlformats.org/officeDocument/2006/relationships/image" Target="/ppt/media/image3.png" Id="Rc1f7985c666241e1" /><Relationship Type="http://schemas.openxmlformats.org/officeDocument/2006/relationships/image" Target="/ppt/media/image4.png" Id="R942fa5c6b11f4325" /><Relationship Type="http://schemas.openxmlformats.org/officeDocument/2006/relationships/notesSlide" Target="/ppt/notesSlides/notesSlide2.xml" Id="R5f47397f7dbf44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425ba8073a4a14" /><Relationship Type="http://schemas.openxmlformats.org/officeDocument/2006/relationships/image" Target="/ppt/media/image5.png" Id="R244d2e09908c43fe" /><Relationship Type="http://schemas.openxmlformats.org/officeDocument/2006/relationships/notesSlide" Target="/ppt/notesSlides/notesSlide3.xml" Id="Rb4a04350d1844c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068d5c501a4414" /><Relationship Type="http://schemas.openxmlformats.org/officeDocument/2006/relationships/image" Target="/ppt/media/image6.png" Id="Rc799d08a21134e34" /><Relationship Type="http://schemas.openxmlformats.org/officeDocument/2006/relationships/image" Target="/ppt/media/image7.png" Id="R2a384e1c670f4a41" /><Relationship Type="http://schemas.openxmlformats.org/officeDocument/2006/relationships/notesSlide" Target="/ppt/notesSlides/notesSlide4.xml" Id="Re4f24b9d855845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17ef0a0474146" /><Relationship Type="http://schemas.openxmlformats.org/officeDocument/2006/relationships/image" Target="/ppt/media/image8.png" Id="Ra3394cafb49c4ada" /><Relationship Type="http://schemas.openxmlformats.org/officeDocument/2006/relationships/image" Target="/ppt/media/image9.png" Id="R675b35d5eedb48fe" /><Relationship Type="http://schemas.openxmlformats.org/officeDocument/2006/relationships/notesSlide" Target="/ppt/notesSlides/notesSlide5.xml" Id="R05680556c2c54d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a726129004511" /><Relationship Type="http://schemas.openxmlformats.org/officeDocument/2006/relationships/image" Target="/ppt/media/image10.png" Id="Ra785a175e0b64e78" /><Relationship Type="http://schemas.openxmlformats.org/officeDocument/2006/relationships/image" Target="/ppt/media/image11.png" Id="R19c483c3504742c9" /><Relationship Type="http://schemas.openxmlformats.org/officeDocument/2006/relationships/image" Target="/ppt/media/image12.png" Id="Rb27eb71bfc8344c1" /><Relationship Type="http://schemas.openxmlformats.org/officeDocument/2006/relationships/image" Target="/ppt/media/image13.png" Id="Rbda595aa093048e8" /><Relationship Type="http://schemas.openxmlformats.org/officeDocument/2006/relationships/notesSlide" Target="/ppt/notesSlides/notesSlide6.xml" Id="Re0af6d3a32e049b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cf3b555e0e4e6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-wash">
            <a:extLst xmlns:a="http://schemas.openxmlformats.org/drawingml/2006/main">
              <a:ext uri="{FF2B5EF4-FFF2-40B4-BE49-F238E27FC236}">
                <a16:creationId xmlns:a16="http://schemas.microsoft.com/office/drawing/2014/main" id="{1C0B8D26-13B3-4B44-8A4B-5ECFFD2E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62D35">
              <a:alpha val="72157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bce10e851f40ec"/>
          <a:stretch xmlns:a="http://schemas.openxmlformats.org/drawingml/2006/main"/>
        </p:blipFill>
        <p:spPr>
          <a:xfrm xmlns:a="http://schemas.openxmlformats.org/drawingml/2006/main">
            <a:off x="4095750" y="1000125"/>
            <a:ext cx="4000500" cy="2667000"/>
          </a:xfrm>
          <a:prstGeom xmlns:a="http://schemas.openxmlformats.org/drawingml/2006/main" prst="rect">
            <a:avLst/>
          </a:prstGeom>
        </p:spPr>
      </p:pic>
      <p:sp>
        <p:nvSpPr>
          <p:cNvPr id="4" name="tagline">
            <a:extLst xmlns:a="http://schemas.openxmlformats.org/drawingml/2006/main">
              <a:ext uri="{FF2B5EF4-FFF2-40B4-BE49-F238E27FC236}">
                <a16:creationId xmlns:a16="http://schemas.microsoft.com/office/drawing/2014/main" id="{08131CE1-5756-49E5-B366-C66103E5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952875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EDDA"/>
                </a:solidFill>
              </a:defRPr>
            </a:pPr>
            <a:r>
              <a:rPr sz="1950" b="1">
                <a:solidFill>
                  <a:srgbClr val="F6EDDA"/>
                </a:solidFill>
              </a:rPr>
              <a:t>READ THE MARKET. CATCH THE FISH. CHOOSE WHERE TO SELL.</a:t>
            </a:r>
          </a:p>
        </p:txBody>
      </p:sp>
      <p:sp>
        <p:nvSpPr>
          <p:cNvPr id="5" name="team">
            <a:extLst xmlns:a="http://schemas.openxmlformats.org/drawingml/2006/main">
              <a:ext uri="{FF2B5EF4-FFF2-40B4-BE49-F238E27FC236}">
                <a16:creationId xmlns:a16="http://schemas.microsoft.com/office/drawing/2014/main" id="{561391A2-9B27-4735-8A4C-F8B5D7F13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8102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E8F0EC">
                    <a:alpha val="80000"/>
                  </a:srgbClr>
                </a:solidFill>
              </a:defRPr>
            </a:pPr>
            <a:r>
              <a:rPr sz="1350">
                <a:solidFill>
                  <a:srgbClr val="E8F0EC">
                    <a:alpha val="80000"/>
                  </a:srgbClr>
                </a:solidFill>
              </a:rPr>
              <a:t>Liam  ·  Saxon  ·  Harrison  ·  David</a:t>
            </a:r>
          </a:p>
        </p:txBody>
      </p:sp>
    </p:spTree>
    <p:extLst>
      <p:ext uri="{BB962C8B-B14F-4D97-AF65-F5344CB8AC3E}">
        <p14:creationId xmlns:p14="http://schemas.microsoft.com/office/powerpoint/2010/main" val="17096009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ED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f7985c666241e1"/>
          <a:stretch xmlns:a="http://schemas.openxmlformats.org/drawingml/2006/main"/>
        </p:blipFill>
        <p:spPr>
          <a:xfrm xmlns:a="http://schemas.openxmlformats.org/drawingml/2006/main">
            <a:off x="10244138" y="266700"/>
            <a:ext cx="1000125" cy="66675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6A57B3C8-19AB-4567-85D3-45C06C33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A43A"/>
                </a:solidFill>
              </a:defRPr>
            </a:pPr>
            <a:r>
              <a:rPr sz="1350" b="1">
                <a:solidFill>
                  <a:srgbClr val="F2A43A"/>
                </a:solidFill>
              </a:rPr>
              <a:t>THE IDEA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79E08399-B619-46C4-8079-BF6A22D7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95375"/>
            <a:ext cx="4857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62D35"/>
                </a:solidFill>
              </a:defRPr>
            </a:pPr>
            <a:r>
              <a:rPr sz="3900" b="1">
                <a:solidFill>
                  <a:srgbClr val="062D35"/>
                </a:solidFill>
              </a:rPr>
              <a:t>Every trip begins with a price.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E5E8DA09-869C-4890-BE9A-F7A5BE1F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B4651"/>
                </a:solidFill>
              </a:defRPr>
            </a:pPr>
            <a:r>
              <a:rPr sz="1950">
                <a:solidFill>
                  <a:srgbClr val="0B4651"/>
                </a:solidFill>
              </a:rPr>
              <a:t>Inspect a real species, read its seven-day graph, then track it across the lake.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2fa5c6b11f4325"/>
          <a:srcRect xmlns:a="http://schemas.openxmlformats.org/drawingml/2006/main" l="14694" t="0" r="146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1123950"/>
            <a:ext cx="5619750" cy="4476750"/>
          </a:xfrm>
          <a:prstGeom xmlns:a="http://schemas.openxmlformats.org/drawingml/2006/main" prst="roundRect">
            <a:avLst>
              <a:gd name="adj" fmla="val 3404"/>
            </a:avLst>
          </a:prstGeom>
        </p:spPr>
      </p:pic>
      <p:sp>
        <p:nvSpPr>
          <p:cNvPr id="6" name="orange-rule">
            <a:extLst xmlns:a="http://schemas.openxmlformats.org/drawingml/2006/main">
              <a:ext uri="{FF2B5EF4-FFF2-40B4-BE49-F238E27FC236}">
                <a16:creationId xmlns:a16="http://schemas.microsoft.com/office/drawing/2014/main" id="{FC627E04-6524-4DFE-B1DA-3C2239D7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37147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one-line">
            <a:extLst xmlns:a="http://schemas.openxmlformats.org/drawingml/2006/main">
              <a:ext uri="{FF2B5EF4-FFF2-40B4-BE49-F238E27FC236}">
                <a16:creationId xmlns:a16="http://schemas.microsoft.com/office/drawing/2014/main" id="{8B284A1D-54BD-410F-BDC8-E999452A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62D35"/>
                </a:solidFill>
              </a:defRPr>
            </a:pPr>
            <a:r>
              <a:rPr sz="1800" b="1">
                <a:solidFill>
                  <a:srgbClr val="062D35"/>
                </a:solidFill>
              </a:rPr>
              <a:t>The route changes when the market changes.</a:t>
            </a:r>
          </a:p>
        </p:txBody>
      </p:sp>
    </p:spTree>
    <p:extLst>
      <p:ext uri="{BB962C8B-B14F-4D97-AF65-F5344CB8AC3E}">
        <p14:creationId xmlns:p14="http://schemas.microsoft.com/office/powerpoint/2010/main" val="4839306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2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4d2e09908c43fe"/>
          <a:stretch xmlns:a="http://schemas.openxmlformats.org/drawingml/2006/main"/>
        </p:blipFill>
        <p:spPr>
          <a:xfrm xmlns:a="http://schemas.openxmlformats.org/drawingml/2006/main">
            <a:off x="10244138" y="266700"/>
            <a:ext cx="1000125" cy="666750"/>
          </a:xfrm>
          <a:prstGeom xmlns:a="http://schemas.openxmlformats.org/drawingml/2006/main" prst="rect">
            <a:avLst/>
          </a:prstGeom>
        </p:spPr>
      </p:pic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ED771E05-89C5-4AB4-A89B-1561A2AE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685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6EDDA"/>
                </a:solidFill>
              </a:defRPr>
            </a:pPr>
            <a:r>
              <a:rPr sz="3600" b="1">
                <a:solidFill>
                  <a:srgbClr val="F6EDDA"/>
                </a:solidFill>
              </a:rPr>
              <a:t>One loop. Seven decisions.</a:t>
            </a:r>
          </a:p>
        </p:txBody>
      </p:sp>
      <p:sp>
        <p:nvSpPr>
          <p:cNvPr id="3" name="step-0">
            <a:extLst xmlns:a="http://schemas.openxmlformats.org/drawingml/2006/main">
              <a:ext uri="{FF2B5EF4-FFF2-40B4-BE49-F238E27FC236}">
                <a16:creationId xmlns:a16="http://schemas.microsoft.com/office/drawing/2014/main" id="{473CA590-64DB-4F5A-B5BE-40FE40F2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1381125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6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icon-0">
            <a:extLst xmlns:a="http://schemas.openxmlformats.org/drawingml/2006/main">
              <a:ext uri="{FF2B5EF4-FFF2-40B4-BE49-F238E27FC236}">
                <a16:creationId xmlns:a16="http://schemas.microsoft.com/office/drawing/2014/main" id="{072A6A4F-9B94-4AD9-B731-1064AEDD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61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6EDDA"/>
                </a:solidFill>
              </a:defRPr>
            </a:pPr>
            <a:r>
              <a:rPr sz="3150" b="1">
                <a:solidFill>
                  <a:srgbClr val="F6EDDA"/>
                </a:solidFill>
              </a:rPr>
              <a:t>◒</a:t>
            </a:r>
          </a:p>
        </p:txBody>
      </p:sp>
      <p:sp>
        <p:nvSpPr>
          <p:cNvPr id="5" name="label-0">
            <a:extLst xmlns:a="http://schemas.openxmlformats.org/drawingml/2006/main">
              <a:ext uri="{FF2B5EF4-FFF2-40B4-BE49-F238E27FC236}">
                <a16:creationId xmlns:a16="http://schemas.microsoft.com/office/drawing/2014/main" id="{4BD03C3A-E514-4CC7-B2E8-3BFA7B4F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152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EDDA"/>
                </a:solidFill>
              </a:defRPr>
            </a:pPr>
            <a:r>
              <a:rPr sz="1275" b="1">
                <a:solidFill>
                  <a:srgbClr val="F6EDDA"/>
                </a:solidFill>
              </a:rPr>
              <a:t>MARKET</a:t>
            </a:r>
          </a:p>
        </p:txBody>
      </p:sp>
      <p:sp>
        <p:nvSpPr>
          <p:cNvPr id="6" name="arrow-0">
            <a:extLst xmlns:a="http://schemas.openxmlformats.org/drawingml/2006/main">
              <a:ext uri="{FF2B5EF4-FFF2-40B4-BE49-F238E27FC236}">
                <a16:creationId xmlns:a16="http://schemas.microsoft.com/office/drawing/2014/main" id="{844E473E-1224-4509-8C9D-F64EDF5A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61937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A43A"/>
                </a:solidFill>
              </a:defRPr>
            </a:pPr>
            <a:r>
              <a:rPr sz="2100" b="1">
                <a:solidFill>
                  <a:srgbClr val="F2A43A"/>
                </a:solidFill>
              </a:rPr>
              <a:t>→</a:t>
            </a:r>
          </a:p>
        </p:txBody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ECFC1D8B-9FFC-483A-9D12-0217ED54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190750"/>
            <a:ext cx="1381125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6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icon-1">
            <a:extLst xmlns:a="http://schemas.openxmlformats.org/drawingml/2006/main">
              <a:ext uri="{FF2B5EF4-FFF2-40B4-BE49-F238E27FC236}">
                <a16:creationId xmlns:a16="http://schemas.microsoft.com/office/drawing/2014/main" id="{2D0D7FE6-4E1F-46C9-8662-CC7387A2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381250"/>
            <a:ext cx="61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6EDDA"/>
                </a:solidFill>
              </a:defRPr>
            </a:pPr>
            <a:r>
              <a:rPr sz="3150" b="1">
                <a:solidFill>
                  <a:srgbClr val="F6EDDA"/>
                </a:solidFill>
              </a:rPr>
              <a:t>◆</a:t>
            </a:r>
          </a:p>
        </p:txBody>
      </p:sp>
      <p:sp>
        <p:nvSpPr>
          <p:cNvPr id="9" name="label-1">
            <a:extLst xmlns:a="http://schemas.openxmlformats.org/drawingml/2006/main">
              <a:ext uri="{FF2B5EF4-FFF2-40B4-BE49-F238E27FC236}">
                <a16:creationId xmlns:a16="http://schemas.microsoft.com/office/drawing/2014/main" id="{91DE6305-096A-43A5-87C2-63496B5E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048000"/>
            <a:ext cx="1152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EDDA"/>
                </a:solidFill>
              </a:defRPr>
            </a:pPr>
            <a:r>
              <a:rPr sz="1275" b="1">
                <a:solidFill>
                  <a:srgbClr val="F6EDDA"/>
                </a:solidFill>
              </a:rPr>
              <a:t>TRACK</a:t>
            </a:r>
          </a:p>
        </p:txBody>
      </p:sp>
      <p:sp>
        <p:nvSpPr>
          <p:cNvPr id="10" name="arrow-1">
            <a:extLst xmlns:a="http://schemas.openxmlformats.org/drawingml/2006/main">
              <a:ext uri="{FF2B5EF4-FFF2-40B4-BE49-F238E27FC236}">
                <a16:creationId xmlns:a16="http://schemas.microsoft.com/office/drawing/2014/main" id="{BA9EED00-03F1-4BAA-A260-5BF5EF2D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1937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A43A"/>
                </a:solidFill>
              </a:defRPr>
            </a:pPr>
            <a:r>
              <a:rPr sz="2100" b="1">
                <a:solidFill>
                  <a:srgbClr val="F2A43A"/>
                </a:solidFill>
              </a:rPr>
              <a:t>→</a:t>
            </a:r>
          </a:p>
        </p:txBody>
      </p:sp>
      <p:sp>
        <p:nvSpPr>
          <p:cNvPr id="11" name="step-2">
            <a:extLst xmlns:a="http://schemas.openxmlformats.org/drawingml/2006/main">
              <a:ext uri="{FF2B5EF4-FFF2-40B4-BE49-F238E27FC236}">
                <a16:creationId xmlns:a16="http://schemas.microsoft.com/office/drawing/2014/main" id="{745A20CD-4965-407C-8EC0-1F264CB9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90750"/>
            <a:ext cx="1381125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6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con-2">
            <a:extLst xmlns:a="http://schemas.openxmlformats.org/drawingml/2006/main">
              <a:ext uri="{FF2B5EF4-FFF2-40B4-BE49-F238E27FC236}">
                <a16:creationId xmlns:a16="http://schemas.microsoft.com/office/drawing/2014/main" id="{AD909CED-FA91-441A-855D-CE12606C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81250"/>
            <a:ext cx="61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6EDDA"/>
                </a:solidFill>
              </a:defRPr>
            </a:pPr>
            <a:r>
              <a:rPr sz="3150" b="1">
                <a:solidFill>
                  <a:srgbClr val="F6EDDA"/>
                </a:solidFill>
              </a:rPr>
              <a:t>➤</a:t>
            </a:r>
          </a:p>
        </p:txBody>
      </p:sp>
      <p:sp>
        <p:nvSpPr>
          <p:cNvPr id="13" name="label-2">
            <a:extLst xmlns:a="http://schemas.openxmlformats.org/drawingml/2006/main">
              <a:ext uri="{FF2B5EF4-FFF2-40B4-BE49-F238E27FC236}">
                <a16:creationId xmlns:a16="http://schemas.microsoft.com/office/drawing/2014/main" id="{92046E77-CEC1-4B52-B0EC-BD0D4FB8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48000"/>
            <a:ext cx="1152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EDDA"/>
                </a:solidFill>
              </a:defRPr>
            </a:pPr>
            <a:r>
              <a:rPr sz="1275" b="1">
                <a:solidFill>
                  <a:srgbClr val="F6EDDA"/>
                </a:solidFill>
              </a:rPr>
              <a:t>SAIL</a:t>
            </a:r>
          </a:p>
        </p:txBody>
      </p:sp>
      <p:sp>
        <p:nvSpPr>
          <p:cNvPr id="14" name="arrow-2">
            <a:extLst xmlns:a="http://schemas.openxmlformats.org/drawingml/2006/main">
              <a:ext uri="{FF2B5EF4-FFF2-40B4-BE49-F238E27FC236}">
                <a16:creationId xmlns:a16="http://schemas.microsoft.com/office/drawing/2014/main" id="{5AF7153E-E737-46B4-AE4E-D0AEE623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61937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A43A"/>
                </a:solidFill>
              </a:defRPr>
            </a:pPr>
            <a:r>
              <a:rPr sz="2100" b="1">
                <a:solidFill>
                  <a:srgbClr val="F2A43A"/>
                </a:solidFill>
              </a:rPr>
              <a:t>→</a:t>
            </a:r>
          </a:p>
        </p:txBody>
      </p:sp>
      <p:sp>
        <p:nvSpPr>
          <p:cNvPr id="15" name="step-3">
            <a:extLst xmlns:a="http://schemas.openxmlformats.org/drawingml/2006/main">
              <a:ext uri="{FF2B5EF4-FFF2-40B4-BE49-F238E27FC236}">
                <a16:creationId xmlns:a16="http://schemas.microsoft.com/office/drawing/2014/main" id="{AAC3D8CE-E2F7-4B8A-A57D-E6DF27A0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190750"/>
            <a:ext cx="1381125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6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icon-3">
            <a:extLst xmlns:a="http://schemas.openxmlformats.org/drawingml/2006/main">
              <a:ext uri="{FF2B5EF4-FFF2-40B4-BE49-F238E27FC236}">
                <a16:creationId xmlns:a16="http://schemas.microsoft.com/office/drawing/2014/main" id="{E7EFD274-794C-4679-AEB1-3EE57935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381250"/>
            <a:ext cx="61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6EDDA"/>
                </a:solidFill>
              </a:defRPr>
            </a:pPr>
            <a:r>
              <a:rPr sz="3150" b="1">
                <a:solidFill>
                  <a:srgbClr val="F6EDDA"/>
                </a:solidFill>
              </a:rPr>
              <a:t>⌁</a:t>
            </a:r>
          </a:p>
        </p:txBody>
      </p:sp>
      <p:sp>
        <p:nvSpPr>
          <p:cNvPr id="17" name="label-3">
            <a:extLst xmlns:a="http://schemas.openxmlformats.org/drawingml/2006/main">
              <a:ext uri="{FF2B5EF4-FFF2-40B4-BE49-F238E27FC236}">
                <a16:creationId xmlns:a16="http://schemas.microsoft.com/office/drawing/2014/main" id="{8ACC1837-53DB-4153-9EE7-B332FDE4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048000"/>
            <a:ext cx="1152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EDDA"/>
                </a:solidFill>
              </a:defRPr>
            </a:pPr>
            <a:r>
              <a:rPr sz="1275" b="1">
                <a:solidFill>
                  <a:srgbClr val="F6EDDA"/>
                </a:solidFill>
              </a:rPr>
              <a:t>FISH</a:t>
            </a:r>
          </a:p>
        </p:txBody>
      </p:sp>
      <p:sp>
        <p:nvSpPr>
          <p:cNvPr id="18" name="arrow-3">
            <a:extLst xmlns:a="http://schemas.openxmlformats.org/drawingml/2006/main">
              <a:ext uri="{FF2B5EF4-FFF2-40B4-BE49-F238E27FC236}">
                <a16:creationId xmlns:a16="http://schemas.microsoft.com/office/drawing/2014/main" id="{AE38D951-FDF7-4D56-A7BA-26BCA66B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1937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A43A"/>
                </a:solidFill>
              </a:defRPr>
            </a:pPr>
            <a:r>
              <a:rPr sz="2100" b="1">
                <a:solidFill>
                  <a:srgbClr val="F2A43A"/>
                </a:solidFill>
              </a:rPr>
              <a:t>→</a:t>
            </a:r>
          </a:p>
        </p:txBody>
      </p:sp>
      <p:sp>
        <p:nvSpPr>
          <p:cNvPr id="19" name="step-4">
            <a:extLst xmlns:a="http://schemas.openxmlformats.org/drawingml/2006/main">
              <a:ext uri="{FF2B5EF4-FFF2-40B4-BE49-F238E27FC236}">
                <a16:creationId xmlns:a16="http://schemas.microsoft.com/office/drawing/2014/main" id="{1000D434-3BFB-45D6-BCA7-465A7548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190750"/>
            <a:ext cx="1381125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6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icon-4">
            <a:extLst xmlns:a="http://schemas.openxmlformats.org/drawingml/2006/main">
              <a:ext uri="{FF2B5EF4-FFF2-40B4-BE49-F238E27FC236}">
                <a16:creationId xmlns:a16="http://schemas.microsoft.com/office/drawing/2014/main" id="{C84C503A-EA8B-4306-9877-B92AB6EF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81250"/>
            <a:ext cx="61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6EDDA"/>
                </a:solidFill>
              </a:defRPr>
            </a:pPr>
            <a:r>
              <a:rPr sz="3150" b="1">
                <a:solidFill>
                  <a:srgbClr val="F6EDDA"/>
                </a:solidFill>
              </a:rPr>
              <a:t>$</a:t>
            </a:r>
          </a:p>
        </p:txBody>
      </p:sp>
      <p:sp>
        <p:nvSpPr>
          <p:cNvPr id="21" name="label-4">
            <a:extLst xmlns:a="http://schemas.openxmlformats.org/drawingml/2006/main">
              <a:ext uri="{FF2B5EF4-FFF2-40B4-BE49-F238E27FC236}">
                <a16:creationId xmlns:a16="http://schemas.microsoft.com/office/drawing/2014/main" id="{3C87E7B4-E76B-4815-A1B5-1DD4A8CB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48000"/>
            <a:ext cx="1152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EDDA"/>
                </a:solidFill>
              </a:defRPr>
            </a:pPr>
            <a:r>
              <a:rPr sz="1275" b="1">
                <a:solidFill>
                  <a:srgbClr val="F6EDDA"/>
                </a:solidFill>
              </a:rPr>
              <a:t>SELL</a:t>
            </a:r>
          </a:p>
        </p:txBody>
      </p:sp>
      <p:sp>
        <p:nvSpPr>
          <p:cNvPr id="22" name="arrow-4">
            <a:extLst xmlns:a="http://schemas.openxmlformats.org/drawingml/2006/main">
              <a:ext uri="{FF2B5EF4-FFF2-40B4-BE49-F238E27FC236}">
                <a16:creationId xmlns:a16="http://schemas.microsoft.com/office/drawing/2014/main" id="{91388D6D-B41A-4296-8545-49A9CEE3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61937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A43A"/>
                </a:solidFill>
              </a:defRPr>
            </a:pPr>
            <a:r>
              <a:rPr sz="2100" b="1">
                <a:solidFill>
                  <a:srgbClr val="F2A43A"/>
                </a:solidFill>
              </a:rPr>
              <a:t>→</a:t>
            </a:r>
          </a:p>
        </p:txBody>
      </p:sp>
      <p:sp>
        <p:nvSpPr>
          <p:cNvPr id="23" name="step-5">
            <a:extLst xmlns:a="http://schemas.openxmlformats.org/drawingml/2006/main">
              <a:ext uri="{FF2B5EF4-FFF2-40B4-BE49-F238E27FC236}">
                <a16:creationId xmlns:a16="http://schemas.microsoft.com/office/drawing/2014/main" id="{8C52A34E-EA1B-44E8-B747-B0759C20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190750"/>
            <a:ext cx="1381125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6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icon-5">
            <a:extLst xmlns:a="http://schemas.openxmlformats.org/drawingml/2006/main">
              <a:ext uri="{FF2B5EF4-FFF2-40B4-BE49-F238E27FC236}">
                <a16:creationId xmlns:a16="http://schemas.microsoft.com/office/drawing/2014/main" id="{AAB00890-92F9-4A2A-8912-2A57F56B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381250"/>
            <a:ext cx="61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6EDDA"/>
                </a:solidFill>
              </a:defRPr>
            </a:pPr>
            <a:r>
              <a:rPr sz="3150" b="1">
                <a:solidFill>
                  <a:srgbClr val="F6EDDA"/>
                </a:solidFill>
              </a:rPr>
              <a:t>↑</a:t>
            </a:r>
          </a:p>
        </p:txBody>
      </p:sp>
      <p:sp>
        <p:nvSpPr>
          <p:cNvPr id="25" name="label-5">
            <a:extLst xmlns:a="http://schemas.openxmlformats.org/drawingml/2006/main">
              <a:ext uri="{FF2B5EF4-FFF2-40B4-BE49-F238E27FC236}">
                <a16:creationId xmlns:a16="http://schemas.microsoft.com/office/drawing/2014/main" id="{E9547C6F-3145-4E31-A97A-3C054877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048000"/>
            <a:ext cx="1152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EDDA"/>
                </a:solidFill>
              </a:defRPr>
            </a:pPr>
            <a:r>
              <a:rPr sz="1275" b="1">
                <a:solidFill>
                  <a:srgbClr val="F6EDDA"/>
                </a:solidFill>
              </a:rPr>
              <a:t>UPGRADE</a:t>
            </a:r>
          </a:p>
        </p:txBody>
      </p:sp>
      <p:sp>
        <p:nvSpPr>
          <p:cNvPr id="26" name="arrow-5">
            <a:extLst xmlns:a="http://schemas.openxmlformats.org/drawingml/2006/main">
              <a:ext uri="{FF2B5EF4-FFF2-40B4-BE49-F238E27FC236}">
                <a16:creationId xmlns:a16="http://schemas.microsoft.com/office/drawing/2014/main" id="{F3FCF538-6B41-489C-B3E5-D877AFC2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1937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A43A"/>
                </a:solidFill>
              </a:defRPr>
            </a:pPr>
            <a:r>
              <a:rPr sz="2100" b="1">
                <a:solidFill>
                  <a:srgbClr val="F2A43A"/>
                </a:solidFill>
              </a:rPr>
              <a:t>→</a:t>
            </a:r>
          </a:p>
        </p:txBody>
      </p:sp>
      <p:sp>
        <p:nvSpPr>
          <p:cNvPr id="27" name="step-6">
            <a:extLst xmlns:a="http://schemas.openxmlformats.org/drawingml/2006/main">
              <a:ext uri="{FF2B5EF4-FFF2-40B4-BE49-F238E27FC236}">
                <a16:creationId xmlns:a16="http://schemas.microsoft.com/office/drawing/2014/main" id="{373CC513-F69C-444B-B1EA-B957B5F2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190750"/>
            <a:ext cx="1381125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4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icon-6">
            <a:extLst xmlns:a="http://schemas.openxmlformats.org/drawingml/2006/main">
              <a:ext uri="{FF2B5EF4-FFF2-40B4-BE49-F238E27FC236}">
                <a16:creationId xmlns:a16="http://schemas.microsoft.com/office/drawing/2014/main" id="{2EAF805B-666E-4428-88B6-2FA14426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381250"/>
            <a:ext cx="619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6EDDA"/>
                </a:solidFill>
              </a:defRPr>
            </a:pPr>
            <a:r>
              <a:rPr sz="3150" b="1">
                <a:solidFill>
                  <a:srgbClr val="F6EDDA"/>
                </a:solidFill>
              </a:rPr>
              <a:t>↻</a:t>
            </a:r>
          </a:p>
        </p:txBody>
      </p:sp>
      <p:sp>
        <p:nvSpPr>
          <p:cNvPr id="29" name="label-6">
            <a:extLst xmlns:a="http://schemas.openxmlformats.org/drawingml/2006/main">
              <a:ext uri="{FF2B5EF4-FFF2-40B4-BE49-F238E27FC236}">
                <a16:creationId xmlns:a16="http://schemas.microsoft.com/office/drawing/2014/main" id="{F6F0E015-DF5F-4524-A5A0-EEDCBC88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048000"/>
            <a:ext cx="1152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6EDDA"/>
                </a:solidFill>
              </a:defRPr>
            </a:pPr>
            <a:r>
              <a:rPr sz="1275" b="1">
                <a:solidFill>
                  <a:srgbClr val="F6EDDA"/>
                </a:solidFill>
              </a:rPr>
              <a:t>REPEAT</a:t>
            </a:r>
          </a:p>
        </p:txBody>
      </p:sp>
      <p:sp>
        <p:nvSpPr>
          <p:cNvPr id="30" name="footer">
            <a:extLst xmlns:a="http://schemas.openxmlformats.org/drawingml/2006/main">
              <a:ext uri="{FF2B5EF4-FFF2-40B4-BE49-F238E27FC236}">
                <a16:creationId xmlns:a16="http://schemas.microsoft.com/office/drawing/2014/main" id="{ECD14C08-0687-4747-9458-B9AC3BC7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19625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>
                <a:solidFill>
                  <a:srgbClr val="E8F0EC"/>
                </a:solidFill>
              </a:defRPr>
            </a:pPr>
            <a:r>
              <a:rPr sz="2250">
                <a:solidFill>
                  <a:srgbClr val="E8F0EC"/>
                </a:solidFill>
              </a:rPr>
              <a:t>Capacity, speed, depth, and reel control change what the next trip can achieve.</a:t>
            </a:r>
          </a:p>
        </p:txBody>
      </p:sp>
    </p:spTree>
    <p:extLst>
      <p:ext uri="{BB962C8B-B14F-4D97-AF65-F5344CB8AC3E}">
        <p14:creationId xmlns:p14="http://schemas.microsoft.com/office/powerpoint/2010/main" val="7660258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ED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99d08a21134e34"/>
          <a:stretch xmlns:a="http://schemas.openxmlformats.org/drawingml/2006/main"/>
        </p:blipFill>
        <p:spPr>
          <a:xfrm xmlns:a="http://schemas.openxmlformats.org/drawingml/2006/main">
            <a:off x="10244138" y="266700"/>
            <a:ext cx="1000125" cy="66675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C4318633-B9F6-4711-B9A9-44205AB4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A43A"/>
                </a:solidFill>
              </a:defRPr>
            </a:pPr>
            <a:r>
              <a:rPr sz="1350" b="1">
                <a:solidFill>
                  <a:srgbClr val="F2A43A"/>
                </a:solidFill>
              </a:rPr>
              <a:t>MAIN CHARACTER</a:t>
            </a:r>
          </a:p>
        </p:txBody>
      </p:sp>
      <p:sp>
        <p:nvSpPr>
          <p:cNvPr id="3" name="headline">
            <a:extLst xmlns:a="http://schemas.openxmlformats.org/drawingml/2006/main">
              <a:ext uri="{FF2B5EF4-FFF2-40B4-BE49-F238E27FC236}">
                <a16:creationId xmlns:a16="http://schemas.microsoft.com/office/drawing/2014/main" id="{9CCB769C-D729-4FBE-B2B8-E88905D0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62D35"/>
                </a:solidFill>
              </a:defRPr>
            </a:pPr>
            <a:r>
              <a:rPr sz="3300" b="1">
                <a:solidFill>
                  <a:srgbClr val="062D35"/>
                </a:solidFill>
              </a:rPr>
              <a:t>A small working boat.</a:t>
            </a:r>
          </a:p>
          <a:p xmlns:a="http://schemas.openxmlformats.org/drawingml/2006/main">
            <a:pPr>
              <a:defRPr sz="3300" b="1">
                <a:solidFill>
                  <a:srgbClr val="062D35"/>
                </a:solidFill>
              </a:defRPr>
            </a:pPr>
            <a:r>
              <a:rPr sz="3300" b="1">
                <a:solidFill>
                  <a:srgbClr val="062D35"/>
                </a:solidFill>
              </a:rPr>
              <a:t>A long way to go.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384e1c670f4a41"/>
          <a:stretch xmlns:a="http://schemas.openxmlformats.org/drawingml/2006/main"/>
        </p:blipFill>
        <p:spPr>
          <a:xfrm xmlns:a="http://schemas.openxmlformats.org/drawingml/2006/main">
            <a:off x="5310188" y="1190625"/>
            <a:ext cx="6143625" cy="4095750"/>
          </a:xfrm>
          <a:prstGeom xmlns:a="http://schemas.openxmlformats.org/drawingml/2006/main" prst="rect">
            <a:avLst/>
          </a:prstGeom>
        </p:spPr>
      </p:pic>
      <p:sp>
        <p:nvSpPr>
          <p:cNvPr id="5" name="traits">
            <a:extLst xmlns:a="http://schemas.openxmlformats.org/drawingml/2006/main">
              <a:ext uri="{FF2B5EF4-FFF2-40B4-BE49-F238E27FC236}">
                <a16:creationId xmlns:a16="http://schemas.microsoft.com/office/drawing/2014/main" id="{BA6ADAD3-75CC-49EB-84A4-BB84434E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3238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4651"/>
                </a:solidFill>
              </a:defRPr>
            </a:pPr>
            <a:r>
              <a:rPr sz="1800" b="1">
                <a:solidFill>
                  <a:srgbClr val="0B4651"/>
                </a:solidFill>
              </a:rPr>
              <a:t>WEATHERED HULL</a:t>
            </a:r>
          </a:p>
          <a:p xmlns:a="http://schemas.openxmlformats.org/drawingml/2006/main">
            <a:pPr>
              <a:defRPr sz="1800" b="1">
                <a:solidFill>
                  <a:srgbClr val="0B4651"/>
                </a:solidFill>
              </a:defRPr>
            </a:pPr>
            <a:r>
              <a:rPr sz="1800" b="1">
                <a:solidFill>
                  <a:srgbClr val="0B4651"/>
                </a:solidFill>
              </a:rPr>
              <a:t>HOOK CRANE</a:t>
            </a:r>
          </a:p>
          <a:p xmlns:a="http://schemas.openxmlformats.org/drawingml/2006/main">
            <a:pPr>
              <a:defRPr sz="1800" b="1">
                <a:solidFill>
                  <a:srgbClr val="0B4651"/>
                </a:solidFill>
              </a:defRPr>
            </a:pPr>
            <a:r>
              <a:rPr sz="1800" b="1">
                <a:solidFill>
                  <a:srgbClr val="0B4651"/>
                </a:solidFill>
              </a:rPr>
              <a:t>CARGO CRATE</a:t>
            </a:r>
          </a:p>
          <a:p xmlns:a="http://schemas.openxmlformats.org/drawingml/2006/main">
            <a:pPr>
              <a:defRPr sz="1800" b="1">
                <a:solidFill>
                  <a:srgbClr val="0B4651"/>
                </a:solidFill>
              </a:defRPr>
            </a:pPr>
            <a:r>
              <a:rPr sz="1800" b="1">
                <a:solidFill>
                  <a:srgbClr val="0B4651"/>
                </a:solidFill>
              </a:rPr>
              <a:t>WARM LANTERN</a:t>
            </a:r>
          </a:p>
        </p:txBody>
      </p:sp>
      <p:sp>
        <p:nvSpPr>
          <p:cNvPr id="6" name="caption">
            <a:extLst xmlns:a="http://schemas.openxmlformats.org/drawingml/2006/main">
              <a:ext uri="{FF2B5EF4-FFF2-40B4-BE49-F238E27FC236}">
                <a16:creationId xmlns:a16="http://schemas.microsoft.com/office/drawing/2014/main" id="{0A858593-48DE-40D1-9109-074F15D8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62D35"/>
                </a:solidFill>
              </a:defRPr>
            </a:pPr>
            <a:r>
              <a:rPr sz="1800">
                <a:solidFill>
                  <a:srgbClr val="062D35"/>
                </a:solidFill>
              </a:rPr>
              <a:t>The boat grows through mechanics, not dialogue.</a:t>
            </a:r>
          </a:p>
        </p:txBody>
      </p:sp>
    </p:spTree>
    <p:extLst>
      <p:ext uri="{BB962C8B-B14F-4D97-AF65-F5344CB8AC3E}">
        <p14:creationId xmlns:p14="http://schemas.microsoft.com/office/powerpoint/2010/main" val="18935317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394cafb49c4ad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left-wash">
            <a:extLst xmlns:a="http://schemas.openxmlformats.org/drawingml/2006/main">
              <a:ext uri="{FF2B5EF4-FFF2-40B4-BE49-F238E27FC236}">
                <a16:creationId xmlns:a16="http://schemas.microsoft.com/office/drawing/2014/main" id="{A16A4ABF-6F41-4404-8466-A6A247B4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095875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62D35">
              <a:alpha val="87059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5b35d5eedb48fe"/>
          <a:stretch xmlns:a="http://schemas.openxmlformats.org/drawingml/2006/main"/>
        </p:blipFill>
        <p:spPr>
          <a:xfrm xmlns:a="http://schemas.openxmlformats.org/drawingml/2006/main">
            <a:off x="10244138" y="266700"/>
            <a:ext cx="1000125" cy="666750"/>
          </a:xfrm>
          <a:prstGeom xmlns:a="http://schemas.openxmlformats.org/drawingml/2006/main" prst="rect">
            <a:avLst/>
          </a:prstGeom>
        </p:spPr>
      </p:pic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54632B8D-106A-47E8-80BC-185B6814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A43A"/>
                </a:solidFill>
              </a:defRPr>
            </a:pPr>
            <a:r>
              <a:rPr sz="1350" b="1">
                <a:solidFill>
                  <a:srgbClr val="F2A43A"/>
                </a:solidFill>
              </a:rPr>
              <a:t>THE FIGHT</a:t>
            </a:r>
          </a:p>
        </p:txBody>
      </p:sp>
      <p:sp>
        <p:nvSpPr>
          <p:cNvPr id="5" name="headline">
            <a:extLst xmlns:a="http://schemas.openxmlformats.org/drawingml/2006/main">
              <a:ext uri="{FF2B5EF4-FFF2-40B4-BE49-F238E27FC236}">
                <a16:creationId xmlns:a16="http://schemas.microsoft.com/office/drawing/2014/main" id="{3ACF5C97-9B97-428E-A88E-229DE116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04900"/>
            <a:ext cx="395287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6EDDA"/>
                </a:solidFill>
              </a:defRPr>
            </a:pPr>
            <a:r>
              <a:rPr sz="3450" b="1">
                <a:solidFill>
                  <a:srgbClr val="F6EDDA"/>
                </a:solidFill>
              </a:rPr>
              <a:t>Reel when it is calm. Release when it runs.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910C60E3-0C6A-4D18-BF81-9800826E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81375"/>
            <a:ext cx="381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E8F0EC"/>
                </a:solidFill>
              </a:defRPr>
            </a:pPr>
            <a:r>
              <a:rPr sz="1800">
                <a:solidFill>
                  <a:srgbClr val="E8F0EC"/>
                </a:solidFill>
              </a:rPr>
              <a:t>The line curves, thickens, and changes colour as tension rises. Later fish demand better timing and deeper gear.</a:t>
            </a:r>
          </a:p>
        </p:txBody>
      </p:sp>
      <p:sp>
        <p:nvSpPr>
          <p:cNvPr id="7" name="proof">
            <a:extLst xmlns:a="http://schemas.openxmlformats.org/drawingml/2006/main">
              <a:ext uri="{FF2B5EF4-FFF2-40B4-BE49-F238E27FC236}">
                <a16:creationId xmlns:a16="http://schemas.microsoft.com/office/drawing/2014/main" id="{918D6015-9C13-4A3A-9C3A-5C6DD40B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2A43A"/>
                </a:solidFill>
              </a:defRPr>
            </a:pPr>
            <a:r>
              <a:rPr sz="1200" b="1">
                <a:solidFill>
                  <a:srgbClr val="F2A43A"/>
                </a:solidFill>
              </a:rPr>
              <a:t>REAL GAMEPLAY  ·  CURRENT BUILD</a:t>
            </a:r>
          </a:p>
        </p:txBody>
      </p:sp>
    </p:spTree>
    <p:extLst>
      <p:ext uri="{BB962C8B-B14F-4D97-AF65-F5344CB8AC3E}">
        <p14:creationId xmlns:p14="http://schemas.microsoft.com/office/powerpoint/2010/main" val="8282669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EDD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85a175e0b64e78"/>
          <a:stretch xmlns:a="http://schemas.openxmlformats.org/drawingml/2006/main"/>
        </p:blipFill>
        <p:spPr>
          <a:xfrm xmlns:a="http://schemas.openxmlformats.org/drawingml/2006/main">
            <a:off x="10244138" y="266700"/>
            <a:ext cx="1000125" cy="666750"/>
          </a:xfrm>
          <a:prstGeom xmlns:a="http://schemas.openxmlformats.org/drawingml/2006/main" prst="rect">
            <a:avLst/>
          </a:prstGeom>
        </p:spPr>
      </p:pic>
      <p:sp>
        <p:nvSpPr>
          <p:cNvPr id="2" name="headline">
            <a:extLst xmlns:a="http://schemas.openxmlformats.org/drawingml/2006/main">
              <a:ext uri="{FF2B5EF4-FFF2-40B4-BE49-F238E27FC236}">
                <a16:creationId xmlns:a16="http://schemas.microsoft.com/office/drawing/2014/main" id="{363049C3-C0A3-481B-8BC9-4CA51641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62000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062D35"/>
                </a:solidFill>
              </a:defRPr>
            </a:pPr>
            <a:r>
              <a:rPr sz="3900" b="1">
                <a:solidFill>
                  <a:srgbClr val="062D35"/>
                </a:solidFill>
              </a:rPr>
              <a:t>A market you can sail across.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c483c3504742c9"/>
          <a:srcRect xmlns:a="http://schemas.openxmlformats.org/drawingml/2006/main" l="13839" t="0" r="138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905000"/>
            <a:ext cx="3429000" cy="2667000"/>
          </a:xfrm>
          <a:prstGeom xmlns:a="http://schemas.openxmlformats.org/drawingml/2006/main" prst="roundRect">
            <a:avLst>
              <a:gd name="adj" fmla="val 4286"/>
            </a:avLst>
          </a:prstGeom>
        </p:spPr>
      </p:pic>
      <p:sp>
        <p:nvSpPr>
          <p:cNvPr id="4" name="cap-0">
            <a:extLst xmlns:a="http://schemas.openxmlformats.org/drawingml/2006/main">
              <a:ext uri="{FF2B5EF4-FFF2-40B4-BE49-F238E27FC236}">
                <a16:creationId xmlns:a16="http://schemas.microsoft.com/office/drawing/2014/main" id="{D2E99FFA-D8C3-4177-81D5-913A8A58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4651"/>
                </a:solidFill>
              </a:defRPr>
            </a:pPr>
            <a:r>
              <a:rPr sz="1725" b="1">
                <a:solidFill>
                  <a:srgbClr val="0B4651"/>
                </a:solidFill>
              </a:rPr>
              <a:t>READ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7eb71bfc8344c1"/>
          <a:srcRect xmlns:a="http://schemas.openxmlformats.org/drawingml/2006/main" l="13839" t="0" r="138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24375" y="1905000"/>
            <a:ext cx="3429000" cy="2667000"/>
          </a:xfrm>
          <a:prstGeom xmlns:a="http://schemas.openxmlformats.org/drawingml/2006/main" prst="roundRect">
            <a:avLst>
              <a:gd name="adj" fmla="val 4286"/>
            </a:avLst>
          </a:prstGeom>
        </p:spPr>
      </p:pic>
      <p:sp>
        <p:nvSpPr>
          <p:cNvPr id="6" name="cap-1">
            <a:extLst xmlns:a="http://schemas.openxmlformats.org/drawingml/2006/main">
              <a:ext uri="{FF2B5EF4-FFF2-40B4-BE49-F238E27FC236}">
                <a16:creationId xmlns:a16="http://schemas.microsoft.com/office/drawing/2014/main" id="{3C561FA2-D824-4C9C-8FD6-6F6BEA99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8101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2A43A"/>
                </a:solidFill>
              </a:defRPr>
            </a:pPr>
            <a:r>
              <a:rPr sz="1725" b="1">
                <a:solidFill>
                  <a:srgbClr val="F2A43A"/>
                </a:solidFill>
              </a:rPr>
              <a:t>TRAVEL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a595aa093048e8"/>
          <a:srcRect xmlns:a="http://schemas.openxmlformats.org/drawingml/2006/main" l="13839" t="0" r="138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0" y="1905000"/>
            <a:ext cx="3429000" cy="2667000"/>
          </a:xfrm>
          <a:prstGeom xmlns:a="http://schemas.openxmlformats.org/drawingml/2006/main" prst="roundRect">
            <a:avLst>
              <a:gd name="adj" fmla="val 4286"/>
            </a:avLst>
          </a:prstGeom>
        </p:spPr>
      </p:pic>
      <p:sp>
        <p:nvSpPr>
          <p:cNvPr id="8" name="cap-2">
            <a:extLst xmlns:a="http://schemas.openxmlformats.org/drawingml/2006/main">
              <a:ext uri="{FF2B5EF4-FFF2-40B4-BE49-F238E27FC236}">
                <a16:creationId xmlns:a16="http://schemas.microsoft.com/office/drawing/2014/main" id="{1B6C1275-8072-4C22-B63A-ACFD4C79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01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4651"/>
                </a:solidFill>
              </a:defRPr>
            </a:pPr>
            <a:r>
              <a:rPr sz="1725" b="1">
                <a:solidFill>
                  <a:srgbClr val="0B4651"/>
                </a:solidFill>
              </a:rPr>
              <a:t>CATCH</a:t>
            </a:r>
          </a:p>
        </p:txBody>
      </p:sp>
      <p:sp>
        <p:nvSpPr>
          <p:cNvPr id="9" name="close">
            <a:extLst xmlns:a="http://schemas.openxmlformats.org/drawingml/2006/main">
              <a:ext uri="{FF2B5EF4-FFF2-40B4-BE49-F238E27FC236}">
                <a16:creationId xmlns:a16="http://schemas.microsoft.com/office/drawing/2014/main" id="{97D58C15-8365-4BA3-9175-43E320E9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72125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062D35"/>
                </a:solidFill>
              </a:defRPr>
            </a:pPr>
            <a:r>
              <a:rPr sz="2100">
                <a:solidFill>
                  <a:srgbClr val="062D35"/>
                </a:solidFill>
              </a:rPr>
              <a:t>FSHING turns observation, timing, and trade-offs into one short browser loop.</a:t>
            </a:r>
          </a:p>
        </p:txBody>
      </p:sp>
    </p:spTree>
    <p:extLst>
      <p:ext uri="{BB962C8B-B14F-4D97-AF65-F5344CB8AC3E}">
        <p14:creationId xmlns:p14="http://schemas.microsoft.com/office/powerpoint/2010/main" val="10027855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2026-08-29T10:31:55.8770000Z</dcterms:created>
  <dcterms:modified xsi:type="dcterms:W3CDTF">2026-08-29T10:31:55.8770000Z</dcterms:modified>
</coreProperties>
</file>