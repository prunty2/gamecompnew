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3fd1b4d7648417c" /><Relationship Type="http://schemas.openxmlformats.org/officeDocument/2006/relationships/extended-properties" Target="/docProps/app.xml" Id="Refd90110b9194505" /><Relationship Type="http://schemas.openxmlformats.org/officeDocument/2006/relationships/officeDocument" Target="/ppt/presentation.xml" Id="R3d14104de5e04b3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6148e2b55a14888"/>
  </p:sldMasterIdLst>
  <p:notesMasterIdLst>
    <p:notesMasterId xmlns:r="http://schemas.openxmlformats.org/officeDocument/2006/relationships" r:id="Rb607751687924d21"/>
  </p:notesMasterIdLst>
  <p:sldIdLst>
    <p:sldId xmlns:r="http://schemas.openxmlformats.org/officeDocument/2006/relationships" id="256" r:id="Rb63759edd8fd4a94"/>
    <p:sldId xmlns:r="http://schemas.openxmlformats.org/officeDocument/2006/relationships" id="257" r:id="R452c3ca46fda4e4c"/>
    <p:sldId xmlns:r="http://schemas.openxmlformats.org/officeDocument/2006/relationships" id="258" r:id="R20fc8a3d5bd44395"/>
    <p:sldId xmlns:r="http://schemas.openxmlformats.org/officeDocument/2006/relationships" id="259" r:id="R07248146de844cef"/>
    <p:sldId xmlns:r="http://schemas.openxmlformats.org/officeDocument/2006/relationships" id="260" r:id="R5f31be72592b476a"/>
    <p:sldId xmlns:r="http://schemas.openxmlformats.org/officeDocument/2006/relationships" id="261" r:id="Rc999cf548dbf4c7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c482ad5f8824eb0" /><Relationship Type="http://schemas.openxmlformats.org/officeDocument/2006/relationships/slideMaster" Target="/ppt/slideMasters/slideMaster1.xml" Id="R26148e2b55a14888" /><Relationship Type="http://schemas.openxmlformats.org/officeDocument/2006/relationships/notesMaster" Target="/ppt/notesMasters/notesMaster1.xml" Id="Rb607751687924d21" /><Relationship Type="http://schemas.openxmlformats.org/officeDocument/2006/relationships/presProps" Target="/ppt/presProps.xml" Id="R2ab520fc35d64304" /><Relationship Type="http://schemas.openxmlformats.org/officeDocument/2006/relationships/tableStyles" Target="/ppt/tableStyles.xml" Id="R0be06fed52ab48b3" /><Relationship Type="http://schemas.openxmlformats.org/officeDocument/2006/relationships/slide" Target="/ppt/slides/slide1.xml" Id="Rb63759edd8fd4a94" /><Relationship Type="http://schemas.openxmlformats.org/officeDocument/2006/relationships/slide" Target="/ppt/slides/slide2.xml" Id="R452c3ca46fda4e4c" /><Relationship Type="http://schemas.openxmlformats.org/officeDocument/2006/relationships/slide" Target="/ppt/slides/slide3.xml" Id="R20fc8a3d5bd44395" /><Relationship Type="http://schemas.openxmlformats.org/officeDocument/2006/relationships/slide" Target="/ppt/slides/slide4.xml" Id="R07248146de844cef" /><Relationship Type="http://schemas.openxmlformats.org/officeDocument/2006/relationships/slide" Target="/ppt/slides/slide5.xml" Id="R5f31be72592b476a" /><Relationship Type="http://schemas.openxmlformats.org/officeDocument/2006/relationships/slide" Target="/ppt/slides/slide6.xml" Id="Rc999cf548dbf4c7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67f73596bdd4ef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7203bf30d3c4507" /><Relationship Type="http://schemas.openxmlformats.org/officeDocument/2006/relationships/notesMaster" Target="/ppt/notesMasters/notesMaster1.xml" Id="Re5116d24d11f415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4e571cfd9f946de" /><Relationship Type="http://schemas.openxmlformats.org/officeDocument/2006/relationships/notesMaster" Target="/ppt/notesMasters/notesMaster1.xml" Id="R78c18f626336457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d93648b1165424b" /><Relationship Type="http://schemas.openxmlformats.org/officeDocument/2006/relationships/notesMaster" Target="/ppt/notesMasters/notesMaster1.xml" Id="R917fc9eb962c451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d499f05e5eb4fd4" /><Relationship Type="http://schemas.openxmlformats.org/officeDocument/2006/relationships/notesMaster" Target="/ppt/notesMasters/notesMaster1.xml" Id="R3e376f89c099475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a85fd470eb84521" /><Relationship Type="http://schemas.openxmlformats.org/officeDocument/2006/relationships/notesMaster" Target="/ppt/notesMasters/notesMaster1.xml" Id="R4d2be9f802cf4ab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cecf2f014884269" /><Relationship Type="http://schemas.openxmlformats.org/officeDocument/2006/relationships/notesMaster" Target="/ppt/notesMasters/notesMaster1.xml" Id="R6ad44eee89404d4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FSHING is a fishing game where the lake is also a marketplace.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In-game lake environment: src/assets/lake-chart.png</a:t>
            </a:r>
          </a:p>
          <a:p xmlns:a="http://schemas.openxmlformats.org/drawingml/2006/main">
            <a:r>
              <a:t>- Project wordmark: src/assets/fshing-wordmark.png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 not just catch fish. You read today's quote and choose a target before leaving the harbour.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Current game screenshot: Docs/incursion/screenshots/04-market-detail.png</a:t>
            </a:r>
          </a:p>
          <a:p xmlns:a="http://schemas.openxmlformats.org/drawingml/2006/main">
            <a:r>
              <a:t>- Game rules: Docs/Game-Brief.md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systems support one another: the market creates a route, fishing creates cargo, and upgrades change the next trip.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Core loop and upgrades: Docs/Game-Brief.md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boat is the visible player character. Its crane, crate, and lantern show what it does before the player reads a rule.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Production boat: src/assets/player-boat.png</a:t>
            </a:r>
          </a:p>
          <a:p xmlns:a="http://schemas.openxmlformats.org/drawingml/2006/main">
            <a:r>
              <a:t>- Transparent presentation derivative: Docs/incursion/assets/working-boat-transparent.png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Fishing is not a hold-to-fill meter. The fish runs, the line tightens, and the player must release to let it take line.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Current game screenshot: Docs/incursion/screenshots/08-fishing.png</a:t>
            </a:r>
          </a:p>
          <a:p xmlns:a="http://schemas.openxmlformats.org/drawingml/2006/main">
            <a:r>
              <a:t>- Fishing rules: Docs/Game-Brief.md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FSHING teaches through consequence: read the market, act on the information, and see whether the trip paid off.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Current game screenshots: Docs/incursion/screenshots/03-market.png, 07-tracked-sailing.png, 08-fishing.png</a:t>
            </a:r>
          </a:p>
          <a:p xmlns:a="http://schemas.openxmlformats.org/drawingml/2006/main">
            <a:r>
              <a:t>- Project wordmark: src/assets/fshing-wordmark.png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ea6a2abfe0c49a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081ee5516c44ca1" /><Relationship Type="http://schemas.openxmlformats.org/officeDocument/2006/relationships/slideLayout" Target="/ppt/slideLayouts/slideLayout1.xml" Id="Rf5aa8d2bf0f7493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5aa8d2bf0f7493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8216db4a904b6c" /><Relationship Type="http://schemas.openxmlformats.org/officeDocument/2006/relationships/image" Target="/ppt/media/image.png" Id="R45c5be03471c49b5" /><Relationship Type="http://schemas.openxmlformats.org/officeDocument/2006/relationships/image" Target="/ppt/media/image2.png" Id="Rebfb0308fbf54d22" /><Relationship Type="http://schemas.openxmlformats.org/officeDocument/2006/relationships/notesSlide" Target="/ppt/notesSlides/notesSlide1.xml" Id="R6ffeef91418c408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21bf24381b4fe0" /><Relationship Type="http://schemas.openxmlformats.org/officeDocument/2006/relationships/image" Target="/ppt/media/image3.png" Id="R301b29d91f794838" /><Relationship Type="http://schemas.openxmlformats.org/officeDocument/2006/relationships/image" Target="/ppt/media/image4.png" Id="R6f698d078df64049" /><Relationship Type="http://schemas.openxmlformats.org/officeDocument/2006/relationships/notesSlide" Target="/ppt/notesSlides/notesSlide2.xml" Id="Re5abbf1e2bd6498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251da6e8784fa4" /><Relationship Type="http://schemas.openxmlformats.org/officeDocument/2006/relationships/image" Target="/ppt/media/image5.png" Id="Rc0ad5bb3e4104f94" /><Relationship Type="http://schemas.openxmlformats.org/officeDocument/2006/relationships/notesSlide" Target="/ppt/notesSlides/notesSlide3.xml" Id="R7293183d9954495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c18711a74f40b6" /><Relationship Type="http://schemas.openxmlformats.org/officeDocument/2006/relationships/image" Target="/ppt/media/image6.png" Id="Re483cd671dfe40f1" /><Relationship Type="http://schemas.openxmlformats.org/officeDocument/2006/relationships/image" Target="/ppt/media/image7.png" Id="Rde9addbd2a464637" /><Relationship Type="http://schemas.openxmlformats.org/officeDocument/2006/relationships/notesSlide" Target="/ppt/notesSlides/notesSlide4.xml" Id="R861d423cb4914e7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7dc39878164ebb" /><Relationship Type="http://schemas.openxmlformats.org/officeDocument/2006/relationships/image" Target="/ppt/media/image8.png" Id="Rb55c5a7fafff4841" /><Relationship Type="http://schemas.openxmlformats.org/officeDocument/2006/relationships/notesSlide" Target="/ppt/notesSlides/notesSlide5.xml" Id="R85b4ef19cb9e437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88a77248ee4419" /><Relationship Type="http://schemas.openxmlformats.org/officeDocument/2006/relationships/image" Target="/ppt/media/image9.png" Id="R7d2c29363dd34cb3" /><Relationship Type="http://schemas.openxmlformats.org/officeDocument/2006/relationships/image" Target="/ppt/media/image10.png" Id="Rbee94fbcc70f487c" /><Relationship Type="http://schemas.openxmlformats.org/officeDocument/2006/relationships/image" Target="/ppt/media/image11.png" Id="R0c4ccb74e47643c5" /><Relationship Type="http://schemas.openxmlformats.org/officeDocument/2006/relationships/image" Target="/ppt/media/image12.png" Id="R82d27aab5bac49f0" /><Relationship Type="http://schemas.openxmlformats.org/officeDocument/2006/relationships/notesSlide" Target="/ppt/notesSlides/notesSlide6.xml" Id="R60f6d770a59f47dc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c5be03471c49b5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title-wash">
            <a:extLst xmlns:a="http://schemas.openxmlformats.org/drawingml/2006/main">
              <a:ext uri="{FF2B5EF4-FFF2-40B4-BE49-F238E27FC236}">
                <a16:creationId xmlns:a16="http://schemas.microsoft.com/office/drawing/2014/main" id="{DFEF3E70-2945-44D2-A34D-DD5432E25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062D35">
              <a:alpha val="72157"/>
            </a:srgbClr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bfb0308fbf54d22"/>
          <a:stretch xmlns:a="http://schemas.openxmlformats.org/drawingml/2006/main"/>
        </p:blipFill>
        <p:spPr>
          <a:xfrm xmlns:a="http://schemas.openxmlformats.org/drawingml/2006/main">
            <a:off x="4095750" y="1000125"/>
            <a:ext cx="4000500" cy="2667000"/>
          </a:xfrm>
          <a:prstGeom xmlns:a="http://schemas.openxmlformats.org/drawingml/2006/main" prst="rect">
            <a:avLst/>
          </a:prstGeom>
        </p:spPr>
      </p:pic>
      <p:sp>
        <p:nvSpPr>
          <p:cNvPr id="4" name="tagline">
            <a:extLst xmlns:a="http://schemas.openxmlformats.org/drawingml/2006/main">
              <a:ext uri="{FF2B5EF4-FFF2-40B4-BE49-F238E27FC236}">
                <a16:creationId xmlns:a16="http://schemas.microsoft.com/office/drawing/2014/main" id="{2460AF74-69E2-4813-99E6-77CBF4AE3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52875"/>
            <a:ext cx="1066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F6EDDA"/>
                </a:solidFill>
              </a:defRPr>
            </a:pPr>
            <a:r>
              <a:rPr sz="1950" b="1">
                <a:solidFill>
                  <a:srgbClr val="F6EDDA"/>
                </a:solidFill>
              </a:rPr>
              <a:t>CATCH THE FISH. SELL YOUR HAUL. ENHANCE YOUR EQUIPMENT.</a:t>
            </a:r>
          </a:p>
        </p:txBody>
      </p:sp>
      <p:sp>
        <p:nvSpPr>
          <p:cNvPr id="5" name="team">
            <a:extLst xmlns:a="http://schemas.openxmlformats.org/drawingml/2006/main">
              <a:ext uri="{FF2B5EF4-FFF2-40B4-BE49-F238E27FC236}">
                <a16:creationId xmlns:a16="http://schemas.microsoft.com/office/drawing/2014/main" id="{52A9E62C-31F6-4BBB-B775-1BC06F1A6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810250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>
                <a:solidFill>
                  <a:srgbClr val="E8F0EC">
                    <a:alpha val="80000"/>
                  </a:srgbClr>
                </a:solidFill>
              </a:defRPr>
            </a:pPr>
            <a:r>
              <a:rPr sz="1350">
                <a:solidFill>
                  <a:srgbClr val="E8F0EC">
                    <a:alpha val="80000"/>
                  </a:srgbClr>
                </a:solidFill>
              </a:rPr>
              <a:t>Liam  ·  Saxon  ·  Harrison  ·  David</a:t>
            </a:r>
          </a:p>
        </p:txBody>
      </p:sp>
    </p:spTree>
    <p:extLst>
      <p:ext uri="{BB962C8B-B14F-4D97-AF65-F5344CB8AC3E}">
        <p14:creationId xmlns:p14="http://schemas.microsoft.com/office/powerpoint/2010/main" val="6109909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EDD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1b29d91f794838"/>
          <a:stretch xmlns:a="http://schemas.openxmlformats.org/drawingml/2006/main"/>
        </p:blipFill>
        <p:spPr>
          <a:xfrm xmlns:a="http://schemas.openxmlformats.org/drawingml/2006/main">
            <a:off x="10244138" y="266700"/>
            <a:ext cx="1000125" cy="666750"/>
          </a:xfrm>
          <a:prstGeom xmlns:a="http://schemas.openxmlformats.org/drawingml/2006/main" prst="rect">
            <a:avLst/>
          </a:prstGeom>
        </p:spPr>
      </p:pic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8DE60164-DAE7-440C-B129-88841F7EA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2A43A"/>
                </a:solidFill>
              </a:defRPr>
            </a:pPr>
            <a:r>
              <a:rPr sz="1350" b="1">
                <a:solidFill>
                  <a:srgbClr val="F2A43A"/>
                </a:solidFill>
              </a:rPr>
              <a:t>THE IDEA</a:t>
            </a:r>
          </a:p>
        </p:txBody>
      </p:sp>
      <p:sp>
        <p:nvSpPr>
          <p:cNvPr id="3" name="headline">
            <a:extLst xmlns:a="http://schemas.openxmlformats.org/drawingml/2006/main">
              <a:ext uri="{FF2B5EF4-FFF2-40B4-BE49-F238E27FC236}">
                <a16:creationId xmlns:a16="http://schemas.microsoft.com/office/drawing/2014/main" id="{03507D43-82E7-4C3A-B5A5-52D8DED73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95375"/>
            <a:ext cx="48577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062D35"/>
                </a:solidFill>
              </a:defRPr>
            </a:pPr>
            <a:r>
              <a:rPr sz="3900" b="1">
                <a:solidFill>
                  <a:srgbClr val="062D35"/>
                </a:solidFill>
              </a:rPr>
              <a:t>Every trip begins with a price.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BB8D9A37-9E72-4AF7-9EAF-EFD05FF76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4476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950">
                <a:solidFill>
                  <a:srgbClr val="0B4651"/>
                </a:solidFill>
              </a:defRPr>
            </a:pPr>
            <a:r>
              <a:rPr sz="1950">
                <a:solidFill>
                  <a:srgbClr val="0B4651"/>
                </a:solidFill>
              </a:rPr>
              <a:t>Compare the current fish prices across the market. Choose what you want to catch.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698d078df64049"/>
          <a:srcRect xmlns:a="http://schemas.openxmlformats.org/drawingml/2006/main" l="14694" t="0" r="14694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05500" y="1123950"/>
            <a:ext cx="5619750" cy="4476750"/>
          </a:xfrm>
          <a:prstGeom xmlns:a="http://schemas.openxmlformats.org/drawingml/2006/main" prst="roundRect">
            <a:avLst>
              <a:gd name="adj" fmla="val 3404"/>
            </a:avLst>
          </a:prstGeom>
        </p:spPr>
      </p:pic>
      <p:sp>
        <p:nvSpPr>
          <p:cNvPr id="6" name="orange-rule">
            <a:extLst xmlns:a="http://schemas.openxmlformats.org/drawingml/2006/main">
              <a:ext uri="{FF2B5EF4-FFF2-40B4-BE49-F238E27FC236}">
                <a16:creationId xmlns:a16="http://schemas.microsoft.com/office/drawing/2014/main" id="{5623F1F6-DCB9-4433-9B39-212F90A64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0"/>
            <a:ext cx="371475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A43A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63920917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62D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ad5bb3e4104f94"/>
          <a:stretch xmlns:a="http://schemas.openxmlformats.org/drawingml/2006/main"/>
        </p:blipFill>
        <p:spPr>
          <a:xfrm xmlns:a="http://schemas.openxmlformats.org/drawingml/2006/main">
            <a:off x="10244138" y="266700"/>
            <a:ext cx="1000125" cy="666750"/>
          </a:xfrm>
          <a:prstGeom xmlns:a="http://schemas.openxmlformats.org/drawingml/2006/main" prst="rect">
            <a:avLst/>
          </a:prstGeom>
        </p:spPr>
      </p:pic>
      <p:sp>
        <p:nvSpPr>
          <p:cNvPr id="2" name="headline">
            <a:extLst xmlns:a="http://schemas.openxmlformats.org/drawingml/2006/main">
              <a:ext uri="{FF2B5EF4-FFF2-40B4-BE49-F238E27FC236}">
                <a16:creationId xmlns:a16="http://schemas.microsoft.com/office/drawing/2014/main" id="{3AC602C3-9D43-427A-8313-8A5466C6F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685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F6EDDA"/>
                </a:solidFill>
              </a:defRPr>
            </a:pPr>
            <a:r>
              <a:rPr sz="3600" b="1">
                <a:solidFill>
                  <a:srgbClr val="F6EDDA"/>
                </a:solidFill>
              </a:rPr>
              <a:t>The game loop</a:t>
            </a:r>
          </a:p>
        </p:txBody>
      </p:sp>
      <p:sp>
        <p:nvSpPr>
          <p:cNvPr id="9" name="step-2">
            <a:extLst xmlns:a="http://schemas.openxmlformats.org/drawingml/2006/main">
              <a:ext uri="{FF2B5EF4-FFF2-40B4-BE49-F238E27FC236}">
                <a16:creationId xmlns:a16="http://schemas.microsoft.com/office/drawing/2014/main" id="{336CA752-3331-4DC5-A18D-C592E7E2B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190750"/>
            <a:ext cx="1381125" cy="1381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46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icon-2">
            <a:extLst xmlns:a="http://schemas.openxmlformats.org/drawingml/2006/main">
              <a:ext uri="{FF2B5EF4-FFF2-40B4-BE49-F238E27FC236}">
                <a16:creationId xmlns:a16="http://schemas.microsoft.com/office/drawing/2014/main" id="{8608BBBF-1735-4157-AD92-A0BB4C061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2381250"/>
            <a:ext cx="619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F6EDDA"/>
                </a:solidFill>
              </a:defRPr>
            </a:pPr>
            <a:r>
              <a:rPr sz="3150" b="1">
                <a:solidFill>
                  <a:srgbClr val="F6EDDA"/>
                </a:solidFill>
              </a:rPr>
              <a:t>➤</a:t>
            </a:r>
          </a:p>
        </p:txBody>
      </p:sp>
      <p:sp>
        <p:nvSpPr>
          <p:cNvPr id="11" name="label-2">
            <a:extLst xmlns:a="http://schemas.openxmlformats.org/drawingml/2006/main">
              <a:ext uri="{FF2B5EF4-FFF2-40B4-BE49-F238E27FC236}">
                <a16:creationId xmlns:a16="http://schemas.microsoft.com/office/drawing/2014/main" id="{C6450E40-C53A-44FB-9E4E-8D3AC8641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3048000"/>
            <a:ext cx="11525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6EDDA"/>
                </a:solidFill>
              </a:defRPr>
            </a:pPr>
            <a:r>
              <a:rPr sz="1275" b="1">
                <a:solidFill>
                  <a:srgbClr val="F6EDDA"/>
                </a:solidFill>
              </a:rPr>
              <a:t>SAIL</a:t>
            </a:r>
          </a:p>
        </p:txBody>
      </p:sp>
      <p:sp>
        <p:nvSpPr>
          <p:cNvPr id="12" name="arrow-2">
            <a:extLst xmlns:a="http://schemas.openxmlformats.org/drawingml/2006/main">
              <a:ext uri="{FF2B5EF4-FFF2-40B4-BE49-F238E27FC236}">
                <a16:creationId xmlns:a16="http://schemas.microsoft.com/office/drawing/2014/main" id="{4BDE52E1-6799-402E-9BB6-DF8E04761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5675" y="2619375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F2A43A"/>
                </a:solidFill>
              </a:defRPr>
            </a:pPr>
            <a:r>
              <a:rPr sz="2100" b="1">
                <a:solidFill>
                  <a:srgbClr val="F2A43A"/>
                </a:solidFill>
              </a:rPr>
              <a:t>→</a:t>
            </a:r>
          </a:p>
        </p:txBody>
      </p:sp>
      <p:sp>
        <p:nvSpPr>
          <p:cNvPr id="13" name="step-3">
            <a:extLst xmlns:a="http://schemas.openxmlformats.org/drawingml/2006/main">
              <a:ext uri="{FF2B5EF4-FFF2-40B4-BE49-F238E27FC236}">
                <a16:creationId xmlns:a16="http://schemas.microsoft.com/office/drawing/2014/main" id="{801669F4-025C-422B-8356-DAFAD06E7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2190750"/>
            <a:ext cx="1381125" cy="1381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46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icon-3">
            <a:extLst xmlns:a="http://schemas.openxmlformats.org/drawingml/2006/main">
              <a:ext uri="{FF2B5EF4-FFF2-40B4-BE49-F238E27FC236}">
                <a16:creationId xmlns:a16="http://schemas.microsoft.com/office/drawing/2014/main" id="{F66DE995-68F0-4850-881C-199328C74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2381250"/>
            <a:ext cx="619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F6EDDA"/>
                </a:solidFill>
              </a:defRPr>
            </a:pPr>
            <a:r>
              <a:rPr sz="3150" b="1">
                <a:solidFill>
                  <a:srgbClr val="F6EDDA"/>
                </a:solidFill>
              </a:rPr>
              <a:t>⌁</a:t>
            </a:r>
          </a:p>
        </p:txBody>
      </p:sp>
      <p:sp>
        <p:nvSpPr>
          <p:cNvPr id="15" name="label-3">
            <a:extLst xmlns:a="http://schemas.openxmlformats.org/drawingml/2006/main">
              <a:ext uri="{FF2B5EF4-FFF2-40B4-BE49-F238E27FC236}">
                <a16:creationId xmlns:a16="http://schemas.microsoft.com/office/drawing/2014/main" id="{858BF3FB-3D3B-4C25-8FD6-16AD2E5F2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3048000"/>
            <a:ext cx="11525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6EDDA"/>
                </a:solidFill>
              </a:defRPr>
            </a:pPr>
            <a:r>
              <a:rPr sz="1275" b="1">
                <a:solidFill>
                  <a:srgbClr val="F6EDDA"/>
                </a:solidFill>
              </a:rPr>
              <a:t>FISH</a:t>
            </a:r>
          </a:p>
        </p:txBody>
      </p:sp>
      <p:sp>
        <p:nvSpPr>
          <p:cNvPr id="16" name="arrow-3">
            <a:extLst xmlns:a="http://schemas.openxmlformats.org/drawingml/2006/main">
              <a:ext uri="{FF2B5EF4-FFF2-40B4-BE49-F238E27FC236}">
                <a16:creationId xmlns:a16="http://schemas.microsoft.com/office/drawing/2014/main" id="{6F0808AC-D8F0-41E8-8713-B34651119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619375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F2A43A"/>
                </a:solidFill>
              </a:defRPr>
            </a:pPr>
            <a:r>
              <a:rPr sz="2100" b="1">
                <a:solidFill>
                  <a:srgbClr val="F2A43A"/>
                </a:solidFill>
              </a:rPr>
              <a:t>→</a:t>
            </a:r>
          </a:p>
        </p:txBody>
      </p:sp>
      <p:sp>
        <p:nvSpPr>
          <p:cNvPr id="17" name="step-4">
            <a:extLst xmlns:a="http://schemas.openxmlformats.org/drawingml/2006/main">
              <a:ext uri="{FF2B5EF4-FFF2-40B4-BE49-F238E27FC236}">
                <a16:creationId xmlns:a16="http://schemas.microsoft.com/office/drawing/2014/main" id="{DD25F9E3-10D2-41A9-BDE0-CC84DDB97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190750"/>
            <a:ext cx="1381125" cy="1381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46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icon-4">
            <a:extLst xmlns:a="http://schemas.openxmlformats.org/drawingml/2006/main">
              <a:ext uri="{FF2B5EF4-FFF2-40B4-BE49-F238E27FC236}">
                <a16:creationId xmlns:a16="http://schemas.microsoft.com/office/drawing/2014/main" id="{4A35D1C2-15DD-421F-90D0-29CEC1D4E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381250"/>
            <a:ext cx="619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F6EDDA"/>
                </a:solidFill>
              </a:defRPr>
            </a:pPr>
            <a:r>
              <a:rPr sz="3150" b="1">
                <a:solidFill>
                  <a:srgbClr val="F6EDDA"/>
                </a:solidFill>
              </a:rPr>
              <a:t>$</a:t>
            </a:r>
          </a:p>
        </p:txBody>
      </p:sp>
      <p:sp>
        <p:nvSpPr>
          <p:cNvPr id="19" name="label-4">
            <a:extLst xmlns:a="http://schemas.openxmlformats.org/drawingml/2006/main">
              <a:ext uri="{FF2B5EF4-FFF2-40B4-BE49-F238E27FC236}">
                <a16:creationId xmlns:a16="http://schemas.microsoft.com/office/drawing/2014/main" id="{8092D2F5-A6E3-4646-AD63-352B8274B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048000"/>
            <a:ext cx="11525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6EDDA"/>
                </a:solidFill>
              </a:defRPr>
            </a:pPr>
            <a:r>
              <a:rPr sz="1275" b="1">
                <a:solidFill>
                  <a:srgbClr val="F6EDDA"/>
                </a:solidFill>
              </a:rPr>
              <a:t>SELL</a:t>
            </a:r>
          </a:p>
        </p:txBody>
      </p:sp>
      <p:sp>
        <p:nvSpPr>
          <p:cNvPr id="20" name="arrow-4">
            <a:extLst xmlns:a="http://schemas.openxmlformats.org/drawingml/2006/main">
              <a:ext uri="{FF2B5EF4-FFF2-40B4-BE49-F238E27FC236}">
                <a16:creationId xmlns:a16="http://schemas.microsoft.com/office/drawing/2014/main" id="{3E209012-DCFA-4D85-A026-0AE844C85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2619375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F2A43A"/>
                </a:solidFill>
              </a:defRPr>
            </a:pPr>
            <a:r>
              <a:rPr sz="2100" b="1">
                <a:solidFill>
                  <a:srgbClr val="F2A43A"/>
                </a:solidFill>
              </a:rPr>
              <a:t>→</a:t>
            </a:r>
          </a:p>
        </p:txBody>
      </p:sp>
      <p:sp>
        <p:nvSpPr>
          <p:cNvPr id="21" name="step-5">
            <a:extLst xmlns:a="http://schemas.openxmlformats.org/drawingml/2006/main">
              <a:ext uri="{FF2B5EF4-FFF2-40B4-BE49-F238E27FC236}">
                <a16:creationId xmlns:a16="http://schemas.microsoft.com/office/drawing/2014/main" id="{585EB6AE-E207-49E4-B93D-E022F3E6F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2190750"/>
            <a:ext cx="1381125" cy="1381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46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icon-5">
            <a:extLst xmlns:a="http://schemas.openxmlformats.org/drawingml/2006/main">
              <a:ext uri="{FF2B5EF4-FFF2-40B4-BE49-F238E27FC236}">
                <a16:creationId xmlns:a16="http://schemas.microsoft.com/office/drawing/2014/main" id="{6EF58F98-1E71-4984-9892-63F74932E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2381250"/>
            <a:ext cx="619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F6EDDA"/>
                </a:solidFill>
              </a:defRPr>
            </a:pPr>
            <a:r>
              <a:rPr sz="3150" b="1">
                <a:solidFill>
                  <a:srgbClr val="F6EDDA"/>
                </a:solidFill>
              </a:rPr>
              <a:t>↑</a:t>
            </a:r>
          </a:p>
        </p:txBody>
      </p:sp>
      <p:sp>
        <p:nvSpPr>
          <p:cNvPr id="23" name="label-5">
            <a:extLst xmlns:a="http://schemas.openxmlformats.org/drawingml/2006/main">
              <a:ext uri="{FF2B5EF4-FFF2-40B4-BE49-F238E27FC236}">
                <a16:creationId xmlns:a16="http://schemas.microsoft.com/office/drawing/2014/main" id="{B4061397-2AA3-45E5-BC09-B82D7E2FE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2325" y="3048000"/>
            <a:ext cx="11525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6EDDA"/>
                </a:solidFill>
              </a:defRPr>
            </a:pPr>
            <a:r>
              <a:rPr sz="1275" b="1">
                <a:solidFill>
                  <a:srgbClr val="F6EDDA"/>
                </a:solidFill>
              </a:rPr>
              <a:t>UPGRADE</a:t>
            </a:r>
          </a:p>
        </p:txBody>
      </p:sp>
      <p:sp>
        <p:nvSpPr>
          <p:cNvPr id="24" name="arrow-5">
            <a:extLst xmlns:a="http://schemas.openxmlformats.org/drawingml/2006/main">
              <a:ext uri="{FF2B5EF4-FFF2-40B4-BE49-F238E27FC236}">
                <a16:creationId xmlns:a16="http://schemas.microsoft.com/office/drawing/2014/main" id="{D1836FFE-4485-4F8A-A274-B3121BE50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619375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F2A43A"/>
                </a:solidFill>
              </a:defRPr>
            </a:pPr>
            <a:r>
              <a:rPr sz="2100" b="1">
                <a:solidFill>
                  <a:srgbClr val="F2A43A"/>
                </a:solidFill>
              </a:rPr>
              <a:t>→</a:t>
            </a:r>
          </a:p>
        </p:txBody>
      </p:sp>
      <p:sp>
        <p:nvSpPr>
          <p:cNvPr id="25" name="step-6">
            <a:extLst xmlns:a="http://schemas.openxmlformats.org/drawingml/2006/main">
              <a:ext uri="{FF2B5EF4-FFF2-40B4-BE49-F238E27FC236}">
                <a16:creationId xmlns:a16="http://schemas.microsoft.com/office/drawing/2014/main" id="{AC855D2B-5D37-4783-8F28-83CB871DD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190750"/>
            <a:ext cx="1381125" cy="1381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A4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icon-6">
            <a:extLst xmlns:a="http://schemas.openxmlformats.org/drawingml/2006/main">
              <a:ext uri="{FF2B5EF4-FFF2-40B4-BE49-F238E27FC236}">
                <a16:creationId xmlns:a16="http://schemas.microsoft.com/office/drawing/2014/main" id="{F264657D-D8F9-43EC-A891-3DF531B8C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381250"/>
            <a:ext cx="619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F6EDDA"/>
                </a:solidFill>
              </a:defRPr>
            </a:pPr>
            <a:r>
              <a:rPr sz="3150" b="1">
                <a:solidFill>
                  <a:srgbClr val="F6EDDA"/>
                </a:solidFill>
              </a:rPr>
              <a:t>↻</a:t>
            </a:r>
          </a:p>
        </p:txBody>
      </p:sp>
      <p:sp>
        <p:nvSpPr>
          <p:cNvPr id="27" name="label-6">
            <a:extLst xmlns:a="http://schemas.openxmlformats.org/drawingml/2006/main">
              <a:ext uri="{FF2B5EF4-FFF2-40B4-BE49-F238E27FC236}">
                <a16:creationId xmlns:a16="http://schemas.microsoft.com/office/drawing/2014/main" id="{2A97428B-591C-4B82-A7BE-86935BFD2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048000"/>
            <a:ext cx="11525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6EDDA"/>
                </a:solidFill>
              </a:defRPr>
            </a:pPr>
            <a:r>
              <a:rPr sz="1275" b="1">
                <a:solidFill>
                  <a:srgbClr val="F6EDDA"/>
                </a:solidFill>
              </a:rPr>
              <a:t>REPEAT</a:t>
            </a:r>
          </a:p>
        </p:txBody>
      </p:sp>
      <p:sp>
        <p:nvSpPr>
          <p:cNvPr id="28" name="footer">
            <a:extLst xmlns:a="http://schemas.openxmlformats.org/drawingml/2006/main">
              <a:ext uri="{FF2B5EF4-FFF2-40B4-BE49-F238E27FC236}">
                <a16:creationId xmlns:a16="http://schemas.microsoft.com/office/drawing/2014/main" id="{C1372BD4-5EA8-400C-8D5A-340C33286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619625"/>
            <a:ext cx="8572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250">
                <a:solidFill>
                  <a:srgbClr val="E8F0EC"/>
                </a:solidFill>
              </a:defRPr>
            </a:pPr>
            <a:r>
              <a:rPr sz="2250">
                <a:solidFill>
                  <a:srgbClr val="E8F0EC"/>
                </a:solidFill>
              </a:rPr>
              <a:t>Capacity, speed, depth, and reel control change what the next trip can achieve.</a:t>
            </a:r>
          </a:p>
        </p:txBody>
      </p:sp>
    </p:spTree>
    <p:extLst>
      <p:ext uri="{BB962C8B-B14F-4D97-AF65-F5344CB8AC3E}">
        <p14:creationId xmlns:p14="http://schemas.microsoft.com/office/powerpoint/2010/main" val="116810375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EDD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83cd671dfe40f1"/>
          <a:stretch xmlns:a="http://schemas.openxmlformats.org/drawingml/2006/main"/>
        </p:blipFill>
        <p:spPr>
          <a:xfrm xmlns:a="http://schemas.openxmlformats.org/drawingml/2006/main">
            <a:off x="10244138" y="266700"/>
            <a:ext cx="1000125" cy="666750"/>
          </a:xfrm>
          <a:prstGeom xmlns:a="http://schemas.openxmlformats.org/drawingml/2006/main" prst="rect">
            <a:avLst/>
          </a:prstGeom>
        </p:spPr>
      </p:pic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6434B0C8-4AC1-48EA-9DCD-76CAFBB4A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2A43A"/>
                </a:solidFill>
              </a:defRPr>
            </a:pPr>
            <a:r>
              <a:rPr sz="1350" b="1">
                <a:solidFill>
                  <a:srgbClr val="F2A43A"/>
                </a:solidFill>
              </a:rPr>
              <a:t>MAIN CHARACTER</a:t>
            </a:r>
          </a:p>
        </p:txBody>
      </p:sp>
      <p:sp>
        <p:nvSpPr>
          <p:cNvPr id="3" name="headline">
            <a:extLst xmlns:a="http://schemas.openxmlformats.org/drawingml/2006/main">
              <a:ext uri="{FF2B5EF4-FFF2-40B4-BE49-F238E27FC236}">
                <a16:creationId xmlns:a16="http://schemas.microsoft.com/office/drawing/2014/main" id="{5584A3D9-C64C-41AD-BC8E-0AF5C2EC2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4095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062D35"/>
                </a:solidFill>
              </a:defRPr>
            </a:pPr>
            <a:r>
              <a:rPr sz="3300" b="1">
                <a:solidFill>
                  <a:srgbClr val="062D35"/>
                </a:solidFill>
              </a:rPr>
              <a:t>Your small beginner boat. Lots of upgrades to make.</a:t>
            </a:r>
          </a:p>
        </p:txBody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e9addbd2a464637"/>
          <a:stretch xmlns:a="http://schemas.openxmlformats.org/drawingml/2006/main"/>
        </p:blipFill>
        <p:spPr>
          <a:xfrm xmlns:a="http://schemas.openxmlformats.org/drawingml/2006/main">
            <a:off x="5310188" y="1190625"/>
            <a:ext cx="6143625" cy="4095750"/>
          </a:xfrm>
          <a:prstGeom xmlns:a="http://schemas.openxmlformats.org/drawingml/2006/main" prst="rect">
            <a:avLst/>
          </a:prstGeom>
        </p:spPr>
      </p:pic>
      <p:sp>
        <p:nvSpPr>
          <p:cNvPr id="5" name="traits">
            <a:extLst xmlns:a="http://schemas.openxmlformats.org/drawingml/2006/main">
              <a:ext uri="{FF2B5EF4-FFF2-40B4-BE49-F238E27FC236}">
                <a16:creationId xmlns:a16="http://schemas.microsoft.com/office/drawing/2014/main" id="{AEBCA980-6BEC-479F-A4C0-9E51BF1E0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8500"/>
            <a:ext cx="3238500" cy="157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B4651"/>
                </a:solidFill>
              </a:defRPr>
            </a:pPr>
            <a:r>
              <a:rPr sz="1800" b="1">
                <a:solidFill>
                  <a:srgbClr val="0B4651"/>
                </a:solidFill>
              </a:rPr>
              <a:t>CARGO CAPACITY</a:t>
            </a:r>
          </a:p>
          <a:p xmlns:a="http://schemas.openxmlformats.org/drawingml/2006/main">
            <a:pPr>
              <a:buNone/>
              <a:defRPr sz="1800" b="1">
                <a:solidFill>
                  <a:srgbClr val="0B4651"/>
                </a:solidFill>
              </a:defRPr>
            </a:pPr>
            <a:r>
              <a:rPr sz="1800" b="1">
                <a:solidFill>
                  <a:srgbClr val="0B4651"/>
                </a:solidFill>
              </a:rPr>
              <a:t>ENGINE SPEED</a:t>
            </a:r>
          </a:p>
          <a:p xmlns:a="http://schemas.openxmlformats.org/drawingml/2006/main">
            <a:pPr>
              <a:buNone/>
              <a:defRPr sz="1800" b="1">
                <a:solidFill>
                  <a:srgbClr val="0B4651"/>
                </a:solidFill>
              </a:defRPr>
            </a:pPr>
            <a:r>
              <a:rPr sz="1800" b="1">
                <a:solidFill>
                  <a:srgbClr val="0B4651"/>
                </a:solidFill>
              </a:rPr>
              <a:t>LINE DEPTH</a:t>
            </a:r>
          </a:p>
          <a:p xmlns:a="http://schemas.openxmlformats.org/drawingml/2006/main">
            <a:pPr>
              <a:buNone/>
              <a:defRPr sz="1800" b="1">
                <a:solidFill>
                  <a:srgbClr val="0B4651"/>
                </a:solidFill>
              </a:defRPr>
            </a:pPr>
            <a:r>
              <a:rPr sz="1800" b="1">
                <a:solidFill>
                  <a:srgbClr val="0B4651"/>
                </a:solidFill>
              </a:rPr>
              <a:t>REEL POWER</a:t>
            </a:r>
          </a:p>
          <a:p xmlns:a="http://schemas.openxmlformats.org/drawingml/2006/main">
            <a:pPr>
              <a:buNone/>
              <a:defRPr sz="1800" b="1">
                <a:solidFill>
                  <a:srgbClr val="0B4651"/>
                </a:solidFill>
              </a:defRPr>
            </a:pPr>
            <a:r>
              <a:rPr sz="1800" b="1">
                <a:solidFill>
                  <a:srgbClr val="0B4651"/>
                </a:solidFill>
              </a:rPr>
              <a:t>ENGINE BOOST</a:t>
            </a:r>
          </a:p>
        </p:txBody>
      </p:sp>
    </p:spTree>
    <p:extLst>
      <p:ext uri="{BB962C8B-B14F-4D97-AF65-F5344CB8AC3E}">
        <p14:creationId xmlns:p14="http://schemas.microsoft.com/office/powerpoint/2010/main" val="121469254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5c5a7fafff4841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left-wash">
            <a:extLst xmlns:a="http://schemas.openxmlformats.org/drawingml/2006/main">
              <a:ext uri="{FF2B5EF4-FFF2-40B4-BE49-F238E27FC236}">
                <a16:creationId xmlns:a16="http://schemas.microsoft.com/office/drawing/2014/main" id="{608AAC6B-6BAE-48A8-ABBE-878AFF54E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5095875" cy="68580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062D35">
              <a:alpha val="96078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eyebrow">
            <a:extLst xmlns:a="http://schemas.openxmlformats.org/drawingml/2006/main">
              <a:ext uri="{FF2B5EF4-FFF2-40B4-BE49-F238E27FC236}">
                <a16:creationId xmlns:a16="http://schemas.microsoft.com/office/drawing/2014/main" id="{8BD194B5-C9E6-4149-A1AC-341843D1C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524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2A43A"/>
                </a:solidFill>
              </a:defRPr>
            </a:pPr>
            <a:r>
              <a:rPr sz="1350" b="1">
                <a:solidFill>
                  <a:srgbClr val="F2A43A"/>
                </a:solidFill>
              </a:rPr>
              <a:t>THE FIGHT</a:t>
            </a:r>
          </a:p>
        </p:txBody>
      </p:sp>
      <p:sp>
        <p:nvSpPr>
          <p:cNvPr id="5" name="headline">
            <a:extLst xmlns:a="http://schemas.openxmlformats.org/drawingml/2006/main">
              <a:ext uri="{FF2B5EF4-FFF2-40B4-BE49-F238E27FC236}">
                <a16:creationId xmlns:a16="http://schemas.microsoft.com/office/drawing/2014/main" id="{9F87284D-FF28-4ABE-8867-696BF08C5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04900"/>
            <a:ext cx="3952875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F6EDDA"/>
                </a:solidFill>
              </a:defRPr>
            </a:pPr>
            <a:r>
              <a:rPr sz="3450" b="1">
                <a:solidFill>
                  <a:srgbClr val="F6EDDA"/>
                </a:solidFill>
              </a:rPr>
              <a:t>Fight for your catch.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EB2644FF-57D4-4BED-B9F1-FD13A8842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381375"/>
            <a:ext cx="3810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E8F0EC"/>
                </a:solidFill>
              </a:defRPr>
            </a:pPr>
            <a:r>
              <a:rPr sz="1800">
                <a:solidFill>
                  <a:srgbClr val="E8F0EC"/>
                </a:solidFill>
              </a:rPr>
              <a:t>Our dynamic line system curves, tightens, and changes colour as tension rises. Stronger fish demand better timing and upgraded gear.</a:t>
            </a:r>
          </a:p>
        </p:txBody>
      </p:sp>
      <p:sp>
        <p:nvSpPr>
          <p:cNvPr id="7" name="proof">
            <a:extLst xmlns:a="http://schemas.openxmlformats.org/drawingml/2006/main">
              <a:ext uri="{FF2B5EF4-FFF2-40B4-BE49-F238E27FC236}">
                <a16:creationId xmlns:a16="http://schemas.microsoft.com/office/drawing/2014/main" id="{F42263C6-E1B3-44F1-9845-DEFD27450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90550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2A43A"/>
                </a:solidFill>
              </a:defRPr>
            </a:pPr>
            <a:r>
              <a:rPr sz="1200" b="1">
                <a:solidFill>
                  <a:srgbClr val="F2A43A"/>
                </a:solidFill>
              </a:rPr>
              <a:t>ALL IMAGES ARE CAPTURED IN GAME</a:t>
            </a:r>
          </a:p>
        </p:txBody>
      </p:sp>
    </p:spTree>
    <p:extLst>
      <p:ext uri="{BB962C8B-B14F-4D97-AF65-F5344CB8AC3E}">
        <p14:creationId xmlns:p14="http://schemas.microsoft.com/office/powerpoint/2010/main" val="131542581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EDD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2c29363dd34cb3"/>
          <a:stretch xmlns:a="http://schemas.openxmlformats.org/drawingml/2006/main"/>
        </p:blipFill>
        <p:spPr>
          <a:xfrm xmlns:a="http://schemas.openxmlformats.org/drawingml/2006/main">
            <a:off x="10244138" y="266700"/>
            <a:ext cx="1000125" cy="666750"/>
          </a:xfrm>
          <a:prstGeom xmlns:a="http://schemas.openxmlformats.org/drawingml/2006/main" prst="rect">
            <a:avLst/>
          </a:prstGeom>
        </p:spPr>
      </p:pic>
      <p:sp>
        <p:nvSpPr>
          <p:cNvPr id="2" name="headline">
            <a:extLst xmlns:a="http://schemas.openxmlformats.org/drawingml/2006/main">
              <a:ext uri="{FF2B5EF4-FFF2-40B4-BE49-F238E27FC236}">
                <a16:creationId xmlns:a16="http://schemas.microsoft.com/office/drawing/2014/main" id="{1A948238-06FB-4995-B801-F3A75D278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762000"/>
            <a:ext cx="10001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3900" b="1">
                <a:solidFill>
                  <a:srgbClr val="062D35"/>
                </a:solidFill>
              </a:defRPr>
            </a:pPr>
            <a:r>
              <a:rPr sz="3900" b="1">
                <a:solidFill>
                  <a:srgbClr val="062D35"/>
                </a:solidFill>
              </a:rPr>
              <a:t>A market you can sail across.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e94fbcc70f487c"/>
          <a:srcRect xmlns:a="http://schemas.openxmlformats.org/drawingml/2006/main" l="13839" t="0" r="1383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6750" y="1905000"/>
            <a:ext cx="3429000" cy="2667000"/>
          </a:xfrm>
          <a:prstGeom xmlns:a="http://schemas.openxmlformats.org/drawingml/2006/main" prst="roundRect">
            <a:avLst>
              <a:gd name="adj" fmla="val 4286"/>
            </a:avLst>
          </a:prstGeom>
        </p:spPr>
      </p:pic>
      <p:sp>
        <p:nvSpPr>
          <p:cNvPr id="4" name="cap-0">
            <a:extLst xmlns:a="http://schemas.openxmlformats.org/drawingml/2006/main">
              <a:ext uri="{FF2B5EF4-FFF2-40B4-BE49-F238E27FC236}">
                <a16:creationId xmlns:a16="http://schemas.microsoft.com/office/drawing/2014/main" id="{CD8510CE-535E-4FF0-9891-C2C89631C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10125"/>
            <a:ext cx="342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0B4651"/>
                </a:solidFill>
              </a:defRPr>
            </a:pPr>
            <a:r>
              <a:rPr sz="1725" b="1">
                <a:solidFill>
                  <a:srgbClr val="0B4651"/>
                </a:solidFill>
              </a:rPr>
              <a:t>READ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4ccb74e47643c5"/>
          <a:srcRect xmlns:a="http://schemas.openxmlformats.org/drawingml/2006/main" l="13839" t="0" r="1383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24375" y="1905000"/>
            <a:ext cx="3429000" cy="2667000"/>
          </a:xfrm>
          <a:prstGeom xmlns:a="http://schemas.openxmlformats.org/drawingml/2006/main" prst="roundRect">
            <a:avLst>
              <a:gd name="adj" fmla="val 4286"/>
            </a:avLst>
          </a:prstGeom>
        </p:spPr>
      </p:pic>
      <p:sp>
        <p:nvSpPr>
          <p:cNvPr id="6" name="cap-1">
            <a:extLst xmlns:a="http://schemas.openxmlformats.org/drawingml/2006/main">
              <a:ext uri="{FF2B5EF4-FFF2-40B4-BE49-F238E27FC236}">
                <a16:creationId xmlns:a16="http://schemas.microsoft.com/office/drawing/2014/main" id="{0DA5948D-886C-4755-8817-ED6C600D3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810125"/>
            <a:ext cx="342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F2A43A"/>
                </a:solidFill>
              </a:defRPr>
            </a:pPr>
            <a:r>
              <a:rPr sz="1725" b="1">
                <a:solidFill>
                  <a:srgbClr val="F2A43A"/>
                </a:solidFill>
              </a:rPr>
              <a:t>TRAVEL</a:t>
            </a:r>
          </a:p>
        </p:txBody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d27aab5bac49f0"/>
          <a:srcRect xmlns:a="http://schemas.openxmlformats.org/drawingml/2006/main" l="13839" t="0" r="1383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382000" y="1905000"/>
            <a:ext cx="3429000" cy="2667000"/>
          </a:xfrm>
          <a:prstGeom xmlns:a="http://schemas.openxmlformats.org/drawingml/2006/main" prst="roundRect">
            <a:avLst>
              <a:gd name="adj" fmla="val 4286"/>
            </a:avLst>
          </a:prstGeom>
        </p:spPr>
      </p:pic>
      <p:sp>
        <p:nvSpPr>
          <p:cNvPr id="8" name="cap-2">
            <a:extLst xmlns:a="http://schemas.openxmlformats.org/drawingml/2006/main">
              <a:ext uri="{FF2B5EF4-FFF2-40B4-BE49-F238E27FC236}">
                <a16:creationId xmlns:a16="http://schemas.microsoft.com/office/drawing/2014/main" id="{996284A5-0F0A-4D4C-99BB-F2E155B2C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810125"/>
            <a:ext cx="342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0B4651"/>
                </a:solidFill>
              </a:defRPr>
            </a:pPr>
            <a:r>
              <a:rPr sz="1725" b="1">
                <a:solidFill>
                  <a:srgbClr val="0B4651"/>
                </a:solidFill>
              </a:rPr>
              <a:t>CATCH</a:t>
            </a:r>
          </a:p>
        </p:txBody>
      </p:sp>
      <p:sp>
        <p:nvSpPr>
          <p:cNvPr id="9" name="close">
            <a:extLst xmlns:a="http://schemas.openxmlformats.org/drawingml/2006/main">
              <a:ext uri="{FF2B5EF4-FFF2-40B4-BE49-F238E27FC236}">
                <a16:creationId xmlns:a16="http://schemas.microsoft.com/office/drawing/2014/main" id="{F300F8C9-88BC-4A9A-B3B2-9048B20E2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572125"/>
            <a:ext cx="8763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>
                <a:solidFill>
                  <a:srgbClr val="062D35"/>
                </a:solidFill>
              </a:defRPr>
            </a:pPr>
            <a:r>
              <a:rPr sz="2100">
                <a:solidFill>
                  <a:srgbClr val="062D35"/>
                </a:solidFill>
              </a:rPr>
              <a:t>FSHING turns observation, timing, and trade-offs into one short browser loop.</a:t>
            </a:r>
          </a:p>
        </p:txBody>
      </p:sp>
    </p:spTree>
    <p:extLst>
      <p:ext uri="{BB962C8B-B14F-4D97-AF65-F5344CB8AC3E}">
        <p14:creationId xmlns:p14="http://schemas.microsoft.com/office/powerpoint/2010/main" val="101777201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2026-08-29T22:02:50.2110000Z</dcterms:created>
  <dcterms:modified xsi:type="dcterms:W3CDTF">2026-08-29T22:02:50.2110000Z</dcterms:modified>
</coreProperties>
</file>