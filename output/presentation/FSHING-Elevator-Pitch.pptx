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5c0b1020fdf4710" /><Relationship Type="http://schemas.openxmlformats.org/officeDocument/2006/relationships/extended-properties" Target="/docProps/app.xml" Id="R6af946cfb6164258" /><Relationship Type="http://schemas.openxmlformats.org/officeDocument/2006/relationships/officeDocument" Target="/ppt/presentation.xml" Id="R5eec669c39f748b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d86c8d9f5e14255"/>
  </p:sldMasterIdLst>
  <p:notesMasterIdLst>
    <p:notesMasterId xmlns:r="http://schemas.openxmlformats.org/officeDocument/2006/relationships" r:id="Re1a64a41e61d4255"/>
  </p:notesMasterIdLst>
  <p:sldIdLst>
    <p:sldId xmlns:r="http://schemas.openxmlformats.org/officeDocument/2006/relationships" id="256" r:id="Rbd0f5ecc65804cf4"/>
    <p:sldId xmlns:r="http://schemas.openxmlformats.org/officeDocument/2006/relationships" id="257" r:id="R0ac4056a387e45b1"/>
    <p:sldId xmlns:r="http://schemas.openxmlformats.org/officeDocument/2006/relationships" id="258" r:id="R967f7a439e804162"/>
    <p:sldId xmlns:r="http://schemas.openxmlformats.org/officeDocument/2006/relationships" id="259" r:id="R299d0ea1e07246b1"/>
    <p:sldId xmlns:r="http://schemas.openxmlformats.org/officeDocument/2006/relationships" id="260" r:id="Rc35ed97692164cc3"/>
    <p:sldId xmlns:r="http://schemas.openxmlformats.org/officeDocument/2006/relationships" id="261" r:id="R1325c31d61824c2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8ff1875f8cb4a1e" /><Relationship Type="http://schemas.openxmlformats.org/officeDocument/2006/relationships/slideMaster" Target="/ppt/slideMasters/slideMaster1.xml" Id="Rdd86c8d9f5e14255" /><Relationship Type="http://schemas.openxmlformats.org/officeDocument/2006/relationships/notesMaster" Target="/ppt/notesMasters/notesMaster1.xml" Id="Re1a64a41e61d4255" /><Relationship Type="http://schemas.openxmlformats.org/officeDocument/2006/relationships/presProps" Target="/ppt/presProps.xml" Id="Rf6f00acfba05462d" /><Relationship Type="http://schemas.openxmlformats.org/officeDocument/2006/relationships/tableStyles" Target="/ppt/tableStyles.xml" Id="R83e04cb5b33f4d11" /><Relationship Type="http://schemas.openxmlformats.org/officeDocument/2006/relationships/slide" Target="/ppt/slides/slide1.xml" Id="Rbd0f5ecc65804cf4" /><Relationship Type="http://schemas.openxmlformats.org/officeDocument/2006/relationships/slide" Target="/ppt/slides/slide2.xml" Id="R0ac4056a387e45b1" /><Relationship Type="http://schemas.openxmlformats.org/officeDocument/2006/relationships/slide" Target="/ppt/slides/slide3.xml" Id="R967f7a439e804162" /><Relationship Type="http://schemas.openxmlformats.org/officeDocument/2006/relationships/slide" Target="/ppt/slides/slide4.xml" Id="R299d0ea1e07246b1" /><Relationship Type="http://schemas.openxmlformats.org/officeDocument/2006/relationships/slide" Target="/ppt/slides/slide5.xml" Id="Rc35ed97692164cc3" /><Relationship Type="http://schemas.openxmlformats.org/officeDocument/2006/relationships/slide" Target="/ppt/slides/slide6.xml" Id="R1325c31d61824c2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dcb0bbb7314a4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7bcfd009d174a26" /><Relationship Type="http://schemas.openxmlformats.org/officeDocument/2006/relationships/notesMaster" Target="/ppt/notesMasters/notesMaster1.xml" Id="R7b50ab4484254e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b99a85f974d49b6" /><Relationship Type="http://schemas.openxmlformats.org/officeDocument/2006/relationships/notesMaster" Target="/ppt/notesMasters/notesMaster1.xml" Id="Rf62359e3afda4c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a72b17b9a6b4799" /><Relationship Type="http://schemas.openxmlformats.org/officeDocument/2006/relationships/notesMaster" Target="/ppt/notesMasters/notesMaster1.xml" Id="Rade306dd45e9443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8a0f1f0d5304f9b" /><Relationship Type="http://schemas.openxmlformats.org/officeDocument/2006/relationships/notesMaster" Target="/ppt/notesMasters/notesMaster1.xml" Id="R7258e8ca43c749f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5deed3325b41a5" /><Relationship Type="http://schemas.openxmlformats.org/officeDocument/2006/relationships/notesMaster" Target="/ppt/notesMasters/notesMaster1.xml" Id="R356e19ed8c8a42c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6025a07fe4846ed" /><Relationship Type="http://schemas.openxmlformats.org/officeDocument/2006/relationships/notesMaster" Target="/ppt/notesMasters/notesMaster1.xml" Id="R1bd408132aab414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is a fishing game where the lake is also a marketplace.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Docs/incursion/screenshots/01-title-v0.9.0.png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 not just catch fish. You read today's quote and choose a target before leaving the harbour.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Docs/incursion/screenshots/04-market-detail.png</a:t>
            </a:r>
          </a:p>
          <a:p xmlns:a="http://schemas.openxmlformats.org/drawingml/2006/main">
            <a:r>
              <a:t>- Game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systems support one another: the market creates a route, fishing creates cargo, and upgrades change the next trip.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Core loop and upgrades: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boat is the visible player character. Its crane, crate, and lantern show what it does before the player reads a rule.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boat: src/assets/player-boat.png</a:t>
            </a:r>
          </a:p>
          <a:p xmlns:a="http://schemas.openxmlformats.org/drawingml/2006/main">
            <a:r>
              <a:t>- Transparent presentation derivative: Docs/incursion/assets/working-boat-transparent.png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Fishing is not a hold-to-fill meter. The fish runs, the line tightens, and the player must release to let it take 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screenshot: Docs/incursion/screenshots/08-fishing.png</a:t>
            </a:r>
          </a:p>
          <a:p xmlns:a="http://schemas.openxmlformats.org/drawingml/2006/main">
            <a:r>
              <a:t>- Fishing rules: Docs/Game-Brief.md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FSHING teaches through consequence: read the market, act on the information, and see whether the trip paid off.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Current game screenshots: Docs/incursion/screenshots/03-market.png, 07-tracked-sailing.png, 08-fishing.png</a:t>
            </a:r>
          </a:p>
          <a:p xmlns:a="http://schemas.openxmlformats.org/drawingml/2006/main">
            <a:r>
              <a:t>- Project wordmark: src/assets/fshing-wordmark.png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ea0e73411a443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d220ee030394ac4" /><Relationship Type="http://schemas.openxmlformats.org/officeDocument/2006/relationships/slideLayout" Target="/ppt/slideLayouts/slideLayout1.xml" Id="R22ef9689324c41c2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2ef9689324c41c2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525602cc364591" /><Relationship Type="http://schemas.openxmlformats.org/officeDocument/2006/relationships/image" Target="/ppt/media/image.png" Id="Rc5449d6d09f1443a" /><Relationship Type="http://schemas.openxmlformats.org/officeDocument/2006/relationships/image" Target="/ppt/media/image2.png" Id="R8856347b471d4158" /><Relationship Type="http://schemas.openxmlformats.org/officeDocument/2006/relationships/notesSlide" Target="/ppt/notesSlides/notesSlide1.xml" Id="Rf2241dc78d18468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81023da7884c39" /><Relationship Type="http://schemas.openxmlformats.org/officeDocument/2006/relationships/image" Target="/ppt/media/image3.png" Id="R53ad3c249fa34be9" /><Relationship Type="http://schemas.openxmlformats.org/officeDocument/2006/relationships/image" Target="/ppt/media/image4.png" Id="R266c4b2fc98547be" /><Relationship Type="http://schemas.openxmlformats.org/officeDocument/2006/relationships/notesSlide" Target="/ppt/notesSlides/notesSlide2.xml" Id="R4ae4a18cf46d4cc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c0d17f2184792" /><Relationship Type="http://schemas.openxmlformats.org/officeDocument/2006/relationships/image" Target="/ppt/media/image5.png" Id="R1e19231105ab48de" /><Relationship Type="http://schemas.openxmlformats.org/officeDocument/2006/relationships/notesSlide" Target="/ppt/notesSlides/notesSlide3.xml" Id="R2880d0f95ebb434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6d380241964dd4" /><Relationship Type="http://schemas.openxmlformats.org/officeDocument/2006/relationships/image" Target="/ppt/media/image6.png" Id="Rb8f73562b8eb4315" /><Relationship Type="http://schemas.openxmlformats.org/officeDocument/2006/relationships/image" Target="/ppt/media/image7.png" Id="R95f6a11a355e41b9" /><Relationship Type="http://schemas.openxmlformats.org/officeDocument/2006/relationships/notesSlide" Target="/ppt/notesSlides/notesSlide4.xml" Id="R90a43aed05334c3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b8faaea3bc47d9" /><Relationship Type="http://schemas.openxmlformats.org/officeDocument/2006/relationships/image" Target="/ppt/media/image8.png" Id="Re79cbb112dba4d1b" /><Relationship Type="http://schemas.openxmlformats.org/officeDocument/2006/relationships/image" Target="/ppt/media/image9.png" Id="R082fe604bd1646d5" /><Relationship Type="http://schemas.openxmlformats.org/officeDocument/2006/relationships/notesSlide" Target="/ppt/notesSlides/notesSlide5.xml" Id="Rd88d80da7792429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8ff8d3056148d3" /><Relationship Type="http://schemas.openxmlformats.org/officeDocument/2006/relationships/image" Target="/ppt/media/image10.png" Id="R5e2e163e55b64eb3" /><Relationship Type="http://schemas.openxmlformats.org/officeDocument/2006/relationships/image" Target="/ppt/media/image11.png" Id="Rfaa37084e62548ce" /><Relationship Type="http://schemas.openxmlformats.org/officeDocument/2006/relationships/image" Target="/ppt/media/image12.png" Id="Re2e3c68d571d4268" /><Relationship Type="http://schemas.openxmlformats.org/officeDocument/2006/relationships/image" Target="/ppt/media/image13.png" Id="Rcc02cbe46a394bd2" /><Relationship Type="http://schemas.openxmlformats.org/officeDocument/2006/relationships/notesSlide" Target="/ppt/notesSlides/notesSlide6.xml" Id="Rfe91f1b58a03491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449d6d09f1443a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title-wash">
            <a:extLst xmlns:a="http://schemas.openxmlformats.org/drawingml/2006/main">
              <a:ext uri="{FF2B5EF4-FFF2-40B4-BE49-F238E27FC236}">
                <a16:creationId xmlns:a16="http://schemas.microsoft.com/office/drawing/2014/main" id="{3D5F5978-D123-42C1-B037-1F345B80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72157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56347b471d4158"/>
          <a:stretch xmlns:a="http://schemas.openxmlformats.org/drawingml/2006/main"/>
        </p:blipFill>
        <p:spPr>
          <a:xfrm xmlns:a="http://schemas.openxmlformats.org/drawingml/2006/main">
            <a:off x="4095750" y="1000125"/>
            <a:ext cx="4000500" cy="2667000"/>
          </a:xfrm>
          <a:prstGeom xmlns:a="http://schemas.openxmlformats.org/drawingml/2006/main" prst="rect">
            <a:avLst/>
          </a:prstGeom>
        </p:spPr>
      </p:pic>
      <p:sp>
        <p:nvSpPr>
          <p:cNvPr id="4" name="tagline">
            <a:extLst xmlns:a="http://schemas.openxmlformats.org/drawingml/2006/main">
              <a:ext uri="{FF2B5EF4-FFF2-40B4-BE49-F238E27FC236}">
                <a16:creationId xmlns:a16="http://schemas.microsoft.com/office/drawing/2014/main" id="{AEAE2284-437C-4930-AAC7-9BE9C87BB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952875"/>
            <a:ext cx="8096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>
                <a:solidFill>
                  <a:srgbClr val="F6EDDA"/>
                </a:solidFill>
              </a:defRPr>
            </a:pPr>
            <a:r>
              <a:rPr sz="1950" b="1">
                <a:solidFill>
                  <a:srgbClr val="F6EDDA"/>
                </a:solidFill>
              </a:rPr>
              <a:t>READ THE MARKET. CATCH THE FISH. CHOOSE WHERE TO SELL.</a:t>
            </a:r>
          </a:p>
        </p:txBody>
      </p:sp>
      <p:sp>
        <p:nvSpPr>
          <p:cNvPr id="5" name="team">
            <a:extLst xmlns:a="http://schemas.openxmlformats.org/drawingml/2006/main">
              <a:ext uri="{FF2B5EF4-FFF2-40B4-BE49-F238E27FC236}">
                <a16:creationId xmlns:a16="http://schemas.microsoft.com/office/drawing/2014/main" id="{7EC805E8-EC1C-4FA9-84BC-2792D4167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810250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>
                <a:solidFill>
                  <a:srgbClr val="E8F0EC">
                    <a:alpha val="80000"/>
                  </a:srgbClr>
                </a:solidFill>
              </a:defRPr>
            </a:pPr>
            <a:r>
              <a:rPr sz="1350">
                <a:solidFill>
                  <a:srgbClr val="E8F0EC">
                    <a:alpha val="80000"/>
                  </a:srgbClr>
                </a:solidFill>
              </a:rPr>
              <a:t>Liam  ·  Saxon  ·  Harrison  ·  David</a:t>
            </a:r>
          </a:p>
        </p:txBody>
      </p:sp>
    </p:spTree>
    <p:extLst>
      <p:ext uri="{BB962C8B-B14F-4D97-AF65-F5344CB8AC3E}">
        <p14:creationId xmlns:p14="http://schemas.microsoft.com/office/powerpoint/2010/main" val="200137046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ad3c249fa34be9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421B302-93B3-484A-9BC1-A934A239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IDEA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395895F3-DD80-45CD-B556-371BEA1E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95375"/>
            <a:ext cx="4857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Every trip begins with a price.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9A9DC99-8427-455D-AF06-6FA9AB30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4476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0B4651"/>
                </a:solidFill>
              </a:defRPr>
            </a:pPr>
            <a:r>
              <a:rPr sz="1950">
                <a:solidFill>
                  <a:srgbClr val="0B4651"/>
                </a:solidFill>
              </a:rPr>
              <a:t>Inspect a real species, read its seven-day graph, then track it across the lake.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6c4b2fc98547be"/>
          <a:srcRect xmlns:a="http://schemas.openxmlformats.org/drawingml/2006/main" l="14694" t="0" r="14694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905500" y="1123950"/>
            <a:ext cx="5619750" cy="4476750"/>
          </a:xfrm>
          <a:prstGeom xmlns:a="http://schemas.openxmlformats.org/drawingml/2006/main" prst="roundRect">
            <a:avLst>
              <a:gd name="adj" fmla="val 3404"/>
            </a:avLst>
          </a:prstGeom>
        </p:spPr>
      </p:pic>
      <p:sp>
        <p:nvSpPr>
          <p:cNvPr id="6" name="orange-rule">
            <a:extLst xmlns:a="http://schemas.openxmlformats.org/drawingml/2006/main">
              <a:ext uri="{FF2B5EF4-FFF2-40B4-BE49-F238E27FC236}">
                <a16:creationId xmlns:a16="http://schemas.microsoft.com/office/drawing/2014/main" id="{E007CCD6-12BD-444F-9831-F536CC286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371475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one-line">
            <a:extLst xmlns:a="http://schemas.openxmlformats.org/drawingml/2006/main">
              <a:ext uri="{FF2B5EF4-FFF2-40B4-BE49-F238E27FC236}">
                <a16:creationId xmlns:a16="http://schemas.microsoft.com/office/drawing/2014/main" id="{FDFE4634-6886-4896-AE21-2E53FBF9D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19700"/>
            <a:ext cx="4476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62D35"/>
                </a:solidFill>
              </a:defRPr>
            </a:pPr>
            <a:r>
              <a:rPr sz="1800" b="1">
                <a:solidFill>
                  <a:srgbClr val="062D35"/>
                </a:solidFill>
              </a:rPr>
              <a:t>The route changes when the market changes.</a:t>
            </a:r>
          </a:p>
        </p:txBody>
      </p:sp>
    </p:spTree>
    <p:extLst>
      <p:ext uri="{BB962C8B-B14F-4D97-AF65-F5344CB8AC3E}">
        <p14:creationId xmlns:p14="http://schemas.microsoft.com/office/powerpoint/2010/main" val="2543145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2D3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19231105ab48de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D56CB4DE-DAF1-4CB8-96C7-3B95CA708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685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6EDDA"/>
                </a:solidFill>
              </a:defRPr>
            </a:pPr>
            <a:r>
              <a:rPr sz="3600" b="1">
                <a:solidFill>
                  <a:srgbClr val="F6EDDA"/>
                </a:solidFill>
              </a:rPr>
              <a:t>The game loop</a:t>
            </a:r>
          </a:p>
        </p:txBody>
      </p:sp>
      <p:sp>
        <p:nvSpPr>
          <p:cNvPr id="3" name="icon-0">
            <a:extLst xmlns:a="http://schemas.openxmlformats.org/drawingml/2006/main">
              <a:ext uri="{FF2B5EF4-FFF2-40B4-BE49-F238E27FC236}">
                <a16:creationId xmlns:a16="http://schemas.microsoft.com/office/drawing/2014/main" id="{BC64E7E1-46FD-47A7-9892-62F98F23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◒</a:t>
            </a:r>
          </a:p>
        </p:txBody>
      </p:sp>
      <p:sp>
        <p:nvSpPr>
          <p:cNvPr id="4" name="label-0">
            <a:extLst xmlns:a="http://schemas.openxmlformats.org/drawingml/2006/main">
              <a:ext uri="{FF2B5EF4-FFF2-40B4-BE49-F238E27FC236}">
                <a16:creationId xmlns:a16="http://schemas.microsoft.com/office/drawing/2014/main" id="{2172204E-057F-4D82-A8CF-CFD3E5BBA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MARKET</a:t>
            </a:r>
          </a:p>
        </p:txBody>
      </p:sp>
      <p:sp>
        <p:nvSpPr>
          <p:cNvPr id="5" name="arrow-0">
            <a:extLst xmlns:a="http://schemas.openxmlformats.org/drawingml/2006/main">
              <a:ext uri="{FF2B5EF4-FFF2-40B4-BE49-F238E27FC236}">
                <a16:creationId xmlns:a16="http://schemas.microsoft.com/office/drawing/2014/main" id="{36D07B87-A312-4611-AC6B-708D4D86D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16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6" name="icon-1">
            <a:extLst xmlns:a="http://schemas.openxmlformats.org/drawingml/2006/main">
              <a:ext uri="{FF2B5EF4-FFF2-40B4-BE49-F238E27FC236}">
                <a16:creationId xmlns:a16="http://schemas.microsoft.com/office/drawing/2014/main" id="{3CF35806-6F79-4EEC-95D4-750950305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◆</a:t>
            </a:r>
          </a:p>
        </p:txBody>
      </p:sp>
      <p:sp>
        <p:nvSpPr>
          <p:cNvPr id="7" name="label-1">
            <a:extLst xmlns:a="http://schemas.openxmlformats.org/drawingml/2006/main">
              <a:ext uri="{FF2B5EF4-FFF2-40B4-BE49-F238E27FC236}">
                <a16:creationId xmlns:a16="http://schemas.microsoft.com/office/drawing/2014/main" id="{AE57348C-7015-4D96-841E-F7A9857A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26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TRACK</a:t>
            </a:r>
          </a:p>
        </p:txBody>
      </p:sp>
      <p:sp>
        <p:nvSpPr>
          <p:cNvPr id="8" name="arrow-1">
            <a:extLst xmlns:a="http://schemas.openxmlformats.org/drawingml/2006/main">
              <a:ext uri="{FF2B5EF4-FFF2-40B4-BE49-F238E27FC236}">
                <a16:creationId xmlns:a16="http://schemas.microsoft.com/office/drawing/2014/main" id="{17025DA6-D546-411D-A5C5-B8D6EE1D4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9" name="step-2">
            <a:extLst xmlns:a="http://schemas.openxmlformats.org/drawingml/2006/main">
              <a:ext uri="{FF2B5EF4-FFF2-40B4-BE49-F238E27FC236}">
                <a16:creationId xmlns:a16="http://schemas.microsoft.com/office/drawing/2014/main" id="{70D7445C-7E64-4DF0-B6AB-6C5D85B1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icon-2">
            <a:extLst xmlns:a="http://schemas.openxmlformats.org/drawingml/2006/main">
              <a:ext uri="{FF2B5EF4-FFF2-40B4-BE49-F238E27FC236}">
                <a16:creationId xmlns:a16="http://schemas.microsoft.com/office/drawing/2014/main" id="{C0626C26-8A6B-41B0-9A64-01D1A85AB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➤</a:t>
            </a:r>
          </a:p>
        </p:txBody>
      </p:sp>
      <p:sp>
        <p:nvSpPr>
          <p:cNvPr id="11" name="label-2">
            <a:extLst xmlns:a="http://schemas.openxmlformats.org/drawingml/2006/main">
              <a:ext uri="{FF2B5EF4-FFF2-40B4-BE49-F238E27FC236}">
                <a16:creationId xmlns:a16="http://schemas.microsoft.com/office/drawing/2014/main" id="{548907AE-C1B2-41C1-9813-F04B72919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SAIL</a:t>
            </a:r>
          </a:p>
        </p:txBody>
      </p:sp>
      <p:sp>
        <p:nvSpPr>
          <p:cNvPr id="12" name="arrow-2">
            <a:extLst xmlns:a="http://schemas.openxmlformats.org/drawingml/2006/main">
              <a:ext uri="{FF2B5EF4-FFF2-40B4-BE49-F238E27FC236}">
                <a16:creationId xmlns:a16="http://schemas.microsoft.com/office/drawing/2014/main" id="{67F6313A-0C2B-4EFA-BC14-53DEBF652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3" name="step-3">
            <a:extLst xmlns:a="http://schemas.openxmlformats.org/drawingml/2006/main">
              <a:ext uri="{FF2B5EF4-FFF2-40B4-BE49-F238E27FC236}">
                <a16:creationId xmlns:a16="http://schemas.microsoft.com/office/drawing/2014/main" id="{ECD60694-95B9-4576-93A7-13EF64CEC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402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icon-3">
            <a:extLst xmlns:a="http://schemas.openxmlformats.org/drawingml/2006/main">
              <a:ext uri="{FF2B5EF4-FFF2-40B4-BE49-F238E27FC236}">
                <a16:creationId xmlns:a16="http://schemas.microsoft.com/office/drawing/2014/main" id="{108E85CD-6CC4-450B-8988-0A4BDDDD0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⌁</a:t>
            </a:r>
          </a:p>
        </p:txBody>
      </p:sp>
      <p:sp>
        <p:nvSpPr>
          <p:cNvPr id="15" name="label-3">
            <a:extLst xmlns:a="http://schemas.openxmlformats.org/drawingml/2006/main">
              <a:ext uri="{FF2B5EF4-FFF2-40B4-BE49-F238E27FC236}">
                <a16:creationId xmlns:a16="http://schemas.microsoft.com/office/drawing/2014/main" id="{94D96C50-401E-4CA9-929F-D60D94B3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832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FISH</a:t>
            </a:r>
          </a:p>
        </p:txBody>
      </p:sp>
      <p:sp>
        <p:nvSpPr>
          <p:cNvPr id="16" name="arrow-3">
            <a:extLst xmlns:a="http://schemas.openxmlformats.org/drawingml/2006/main">
              <a:ext uri="{FF2B5EF4-FFF2-40B4-BE49-F238E27FC236}">
                <a16:creationId xmlns:a16="http://schemas.microsoft.com/office/drawing/2014/main" id="{B955C3C1-C58A-4CE2-96B7-353B27C41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17" name="step-4">
            <a:extLst xmlns:a="http://schemas.openxmlformats.org/drawingml/2006/main">
              <a:ext uri="{FF2B5EF4-FFF2-40B4-BE49-F238E27FC236}">
                <a16:creationId xmlns:a16="http://schemas.microsoft.com/office/drawing/2014/main" id="{C50C152E-18B1-4FD6-99A5-33F48A6D1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icon-4">
            <a:extLst xmlns:a="http://schemas.openxmlformats.org/drawingml/2006/main">
              <a:ext uri="{FF2B5EF4-FFF2-40B4-BE49-F238E27FC236}">
                <a16:creationId xmlns:a16="http://schemas.microsoft.com/office/drawing/2014/main" id="{10E5E1B5-F4AF-4DFC-8206-72B3B461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285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$</a:t>
            </a:r>
          </a:p>
        </p:txBody>
      </p:sp>
      <p:sp>
        <p:nvSpPr>
          <p:cNvPr id="19" name="label-4">
            <a:extLst xmlns:a="http://schemas.openxmlformats.org/drawingml/2006/main">
              <a:ext uri="{FF2B5EF4-FFF2-40B4-BE49-F238E27FC236}">
                <a16:creationId xmlns:a16="http://schemas.microsoft.com/office/drawing/2014/main" id="{5C933B60-D662-4BBE-8AD1-5CA3724A7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SELL</a:t>
            </a:r>
          </a:p>
        </p:txBody>
      </p:sp>
      <p:sp>
        <p:nvSpPr>
          <p:cNvPr id="20" name="arrow-4">
            <a:extLst xmlns:a="http://schemas.openxmlformats.org/drawingml/2006/main">
              <a:ext uri="{FF2B5EF4-FFF2-40B4-BE49-F238E27FC236}">
                <a16:creationId xmlns:a16="http://schemas.microsoft.com/office/drawing/2014/main" id="{7798A54C-9291-4B74-8842-320D61B6C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1" name="step-5">
            <a:extLst xmlns:a="http://schemas.openxmlformats.org/drawingml/2006/main">
              <a:ext uri="{FF2B5EF4-FFF2-40B4-BE49-F238E27FC236}">
                <a16:creationId xmlns:a16="http://schemas.microsoft.com/office/drawing/2014/main" id="{AE712BFE-9A7D-46E3-B3E5-23394E8EC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B465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icon-5">
            <a:extLst xmlns:a="http://schemas.openxmlformats.org/drawingml/2006/main">
              <a:ext uri="{FF2B5EF4-FFF2-40B4-BE49-F238E27FC236}">
                <a16:creationId xmlns:a16="http://schemas.microsoft.com/office/drawing/2014/main" id="{7CF1C8AE-236C-43B2-9D0E-BF7635F2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↑</a:t>
            </a:r>
          </a:p>
        </p:txBody>
      </p:sp>
      <p:sp>
        <p:nvSpPr>
          <p:cNvPr id="23" name="label-5">
            <a:extLst xmlns:a="http://schemas.openxmlformats.org/drawingml/2006/main">
              <a:ext uri="{FF2B5EF4-FFF2-40B4-BE49-F238E27FC236}">
                <a16:creationId xmlns:a16="http://schemas.microsoft.com/office/drawing/2014/main" id="{E266AE95-BCC2-415B-A5AB-A02C37C43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UPGRADE</a:t>
            </a:r>
          </a:p>
        </p:txBody>
      </p:sp>
      <p:sp>
        <p:nvSpPr>
          <p:cNvPr id="24" name="arrow-5">
            <a:extLst xmlns:a="http://schemas.openxmlformats.org/drawingml/2006/main">
              <a:ext uri="{FF2B5EF4-FFF2-40B4-BE49-F238E27FC236}">
                <a16:creationId xmlns:a16="http://schemas.microsoft.com/office/drawing/2014/main" id="{375293AF-3FE5-417A-9D49-AF6C1D0B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619375"/>
            <a:ext cx="266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F2A43A"/>
                </a:solidFill>
              </a:defRPr>
            </a:pPr>
            <a:r>
              <a:rPr sz="2100" b="1">
                <a:solidFill>
                  <a:srgbClr val="F2A43A"/>
                </a:solidFill>
              </a:rPr>
              <a:t>→</a:t>
            </a:r>
          </a:p>
        </p:txBody>
      </p:sp>
      <p:sp>
        <p:nvSpPr>
          <p:cNvPr id="25" name="step-6">
            <a:extLst xmlns:a="http://schemas.openxmlformats.org/drawingml/2006/main">
              <a:ext uri="{FF2B5EF4-FFF2-40B4-BE49-F238E27FC236}">
                <a16:creationId xmlns:a16="http://schemas.microsoft.com/office/drawing/2014/main" id="{6735F372-BA87-478B-98BF-27DD60D60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2190750"/>
            <a:ext cx="1381125" cy="1381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A4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icon-6">
            <a:extLst xmlns:a="http://schemas.openxmlformats.org/drawingml/2006/main">
              <a:ext uri="{FF2B5EF4-FFF2-40B4-BE49-F238E27FC236}">
                <a16:creationId xmlns:a16="http://schemas.microsoft.com/office/drawing/2014/main" id="{DB8920DC-8B3A-4FF9-9080-7CF101628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381250"/>
            <a:ext cx="6191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F6EDDA"/>
                </a:solidFill>
              </a:defRPr>
            </a:pPr>
            <a:r>
              <a:rPr sz="3150" b="1">
                <a:solidFill>
                  <a:srgbClr val="F6EDDA"/>
                </a:solidFill>
              </a:rPr>
              <a:t>↻</a:t>
            </a:r>
          </a:p>
        </p:txBody>
      </p:sp>
      <p:sp>
        <p:nvSpPr>
          <p:cNvPr id="27" name="label-6">
            <a:extLst xmlns:a="http://schemas.openxmlformats.org/drawingml/2006/main">
              <a:ext uri="{FF2B5EF4-FFF2-40B4-BE49-F238E27FC236}">
                <a16:creationId xmlns:a16="http://schemas.microsoft.com/office/drawing/2014/main" id="{D6620AB8-AE1A-434F-AC73-E4741B42C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3048000"/>
            <a:ext cx="11525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F6EDDA"/>
                </a:solidFill>
              </a:defRPr>
            </a:pPr>
            <a:r>
              <a:rPr sz="1275" b="1">
                <a:solidFill>
                  <a:srgbClr val="F6EDDA"/>
                </a:solidFill>
              </a:rPr>
              <a:t>REPEAT</a:t>
            </a:r>
          </a:p>
        </p:txBody>
      </p:sp>
      <p:sp>
        <p:nvSpPr>
          <p:cNvPr id="28" name="footer">
            <a:extLst xmlns:a="http://schemas.openxmlformats.org/drawingml/2006/main">
              <a:ext uri="{FF2B5EF4-FFF2-40B4-BE49-F238E27FC236}">
                <a16:creationId xmlns:a16="http://schemas.microsoft.com/office/drawing/2014/main" id="{CB600AD0-7C3E-4299-9883-0FDB18B81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619625"/>
            <a:ext cx="8572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250">
                <a:solidFill>
                  <a:srgbClr val="E8F0EC"/>
                </a:solidFill>
              </a:defRPr>
            </a:pPr>
            <a:r>
              <a:rPr sz="2250">
                <a:solidFill>
                  <a:srgbClr val="E8F0EC"/>
                </a:solidFill>
              </a:rPr>
              <a:t>Capacity, speed, depth, and reel control change what the next trip can achieve.</a:t>
            </a:r>
          </a:p>
        </p:txBody>
      </p:sp>
    </p:spTree>
    <p:extLst>
      <p:ext uri="{BB962C8B-B14F-4D97-AF65-F5344CB8AC3E}">
        <p14:creationId xmlns:p14="http://schemas.microsoft.com/office/powerpoint/2010/main" val="51935738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f73562b8eb4315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9DBB013B-69C2-4D7F-867F-06A89BD75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MAIN CHARACTER</a:t>
            </a:r>
          </a:p>
        </p:txBody>
      </p:sp>
      <p:sp>
        <p:nvSpPr>
          <p:cNvPr id="3" name="headline">
            <a:extLst xmlns:a="http://schemas.openxmlformats.org/drawingml/2006/main">
              <a:ext uri="{FF2B5EF4-FFF2-40B4-BE49-F238E27FC236}">
                <a16:creationId xmlns:a16="http://schemas.microsoft.com/office/drawing/2014/main" id="{318DEE61-48DA-4B8D-91D2-2B5818530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095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small working boat.</a:t>
            </a:r>
          </a:p>
          <a:p xmlns:a="http://schemas.openxmlformats.org/drawingml/2006/main">
            <a:pPr>
              <a:defRPr sz="3300" b="1">
                <a:solidFill>
                  <a:srgbClr val="062D35"/>
                </a:solidFill>
              </a:defRPr>
            </a:pPr>
            <a:r>
              <a:rPr sz="3300" b="1">
                <a:solidFill>
                  <a:srgbClr val="062D35"/>
                </a:solidFill>
              </a:rPr>
              <a:t>A long way to go.</a:t>
            </a:r>
          </a:p>
        </p:txBody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f6a11a355e41b9"/>
          <a:stretch xmlns:a="http://schemas.openxmlformats.org/drawingml/2006/main"/>
        </p:blipFill>
        <p:spPr>
          <a:xfrm xmlns:a="http://schemas.openxmlformats.org/drawingml/2006/main">
            <a:off x="5310188" y="1190625"/>
            <a:ext cx="6143625" cy="4095750"/>
          </a:xfrm>
          <a:prstGeom xmlns:a="http://schemas.openxmlformats.org/drawingml/2006/main" prst="rect">
            <a:avLst/>
          </a:prstGeom>
        </p:spPr>
      </p:pic>
      <p:sp>
        <p:nvSpPr>
          <p:cNvPr id="5" name="traits">
            <a:extLst xmlns:a="http://schemas.openxmlformats.org/drawingml/2006/main">
              <a:ext uri="{FF2B5EF4-FFF2-40B4-BE49-F238E27FC236}">
                <a16:creationId xmlns:a16="http://schemas.microsoft.com/office/drawing/2014/main" id="{7624CCD6-3104-4B71-8D63-6A8C630C3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38500"/>
            <a:ext cx="323850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WEATHERED HULL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HOOK CRANE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CARGO CRATE</a:t>
            </a:r>
          </a:p>
          <a:p xmlns:a="http://schemas.openxmlformats.org/drawingml/2006/main">
            <a:pPr>
              <a:defRPr sz="1800" b="1">
                <a:solidFill>
                  <a:srgbClr val="0B4651"/>
                </a:solidFill>
              </a:defRPr>
            </a:pPr>
            <a:r>
              <a:rPr sz="1800" b="1">
                <a:solidFill>
                  <a:srgbClr val="0B4651"/>
                </a:solidFill>
              </a:rPr>
              <a:t>WARM LANTERN</a:t>
            </a:r>
          </a:p>
        </p:txBody>
      </p:sp>
      <p:sp>
        <p:nvSpPr>
          <p:cNvPr id="6" name="caption">
            <a:extLst xmlns:a="http://schemas.openxmlformats.org/drawingml/2006/main">
              <a:ext uri="{FF2B5EF4-FFF2-40B4-BE49-F238E27FC236}">
                <a16:creationId xmlns:a16="http://schemas.microsoft.com/office/drawing/2014/main" id="{EA9270DB-CC77-458F-8475-A76E3666C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062D35"/>
                </a:solidFill>
              </a:defRPr>
            </a:pPr>
            <a:r>
              <a:rPr sz="1800">
                <a:solidFill>
                  <a:srgbClr val="062D35"/>
                </a:solidFill>
              </a:rPr>
              <a:t>The boat grows through mechanics, not dialogue.</a:t>
            </a:r>
          </a:p>
        </p:txBody>
      </p:sp>
    </p:spTree>
    <p:extLst>
      <p:ext uri="{BB962C8B-B14F-4D97-AF65-F5344CB8AC3E}">
        <p14:creationId xmlns:p14="http://schemas.microsoft.com/office/powerpoint/2010/main" val="129672236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9cbb112dba4d1b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left-wash">
            <a:extLst xmlns:a="http://schemas.openxmlformats.org/drawingml/2006/main">
              <a:ext uri="{FF2B5EF4-FFF2-40B4-BE49-F238E27FC236}">
                <a16:creationId xmlns:a16="http://schemas.microsoft.com/office/drawing/2014/main" id="{AC7CCCAE-55D1-4D2F-8DCF-F5DB36FC7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5095875" cy="6858000"/>
          </a:xfrm>
          <a:prstGeom xmlns:a="http://schemas.openxmlformats.org/drawingml/2006/main" prst="roundRect">
            <a:avLst>
              <a:gd name="adj" fmla="val 0"/>
            </a:avLst>
          </a:prstGeom>
          <a:solidFill xmlns:a="http://schemas.openxmlformats.org/drawingml/2006/main">
            <a:srgbClr val="062D35">
              <a:alpha val="96078"/>
            </a:srgbClr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2fe604bd1646d5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4" name="eyebrow">
            <a:extLst xmlns:a="http://schemas.openxmlformats.org/drawingml/2006/main">
              <a:ext uri="{FF2B5EF4-FFF2-40B4-BE49-F238E27FC236}">
                <a16:creationId xmlns:a16="http://schemas.microsoft.com/office/drawing/2014/main" id="{A27B8334-B5A7-4257-B77F-03BF919A3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524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F2A43A"/>
                </a:solidFill>
              </a:defRPr>
            </a:pPr>
            <a:r>
              <a:rPr sz="1350" b="1">
                <a:solidFill>
                  <a:srgbClr val="F2A43A"/>
                </a:solidFill>
              </a:rPr>
              <a:t>THE FIGHT</a:t>
            </a:r>
          </a:p>
        </p:txBody>
      </p:sp>
      <p:sp>
        <p:nvSpPr>
          <p:cNvPr id="5" name="headline">
            <a:extLst xmlns:a="http://schemas.openxmlformats.org/drawingml/2006/main">
              <a:ext uri="{FF2B5EF4-FFF2-40B4-BE49-F238E27FC236}">
                <a16:creationId xmlns:a16="http://schemas.microsoft.com/office/drawing/2014/main" id="{893F3811-40D4-414A-8B47-0AA0E3D7B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104900"/>
            <a:ext cx="39528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450" b="1">
                <a:solidFill>
                  <a:srgbClr val="F6EDDA"/>
                </a:solidFill>
              </a:defRPr>
            </a:pPr>
            <a:r>
              <a:rPr sz="3450" b="1">
                <a:solidFill>
                  <a:srgbClr val="F6EDDA"/>
                </a:solidFill>
              </a:rPr>
              <a:t>Reel when it is calm. Release when it runs.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ADE8820-A392-4404-8E71-0DAFB86F4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381375"/>
            <a:ext cx="3810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E8F0EC"/>
                </a:solidFill>
              </a:defRPr>
            </a:pPr>
            <a:r>
              <a:rPr sz="1800">
                <a:solidFill>
                  <a:srgbClr val="E8F0EC"/>
                </a:solidFill>
              </a:rPr>
              <a:t>The line curves, thickens, and changes colour as tension rises. Later fish demand better timing and deeper gear.</a:t>
            </a:r>
          </a:p>
        </p:txBody>
      </p:sp>
      <p:sp>
        <p:nvSpPr>
          <p:cNvPr id="7" name="proof">
            <a:extLst xmlns:a="http://schemas.openxmlformats.org/drawingml/2006/main">
              <a:ext uri="{FF2B5EF4-FFF2-40B4-BE49-F238E27FC236}">
                <a16:creationId xmlns:a16="http://schemas.microsoft.com/office/drawing/2014/main" id="{6364FCCD-11B4-4E1A-A633-85F410981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9055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2A43A"/>
                </a:solidFill>
              </a:defRPr>
            </a:pPr>
            <a:r>
              <a:rPr sz="1200" b="1">
                <a:solidFill>
                  <a:srgbClr val="F2A43A"/>
                </a:solidFill>
              </a:rPr>
              <a:t>ALL IMAGES ARE CAPTURED IN GAME</a:t>
            </a:r>
          </a:p>
        </p:txBody>
      </p:sp>
    </p:spTree>
    <p:extLst>
      <p:ext uri="{BB962C8B-B14F-4D97-AF65-F5344CB8AC3E}">
        <p14:creationId xmlns:p14="http://schemas.microsoft.com/office/powerpoint/2010/main" val="144387369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EDD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2e163e55b64eb3"/>
          <a:stretch xmlns:a="http://schemas.openxmlformats.org/drawingml/2006/main"/>
        </p:blipFill>
        <p:spPr>
          <a:xfrm xmlns:a="http://schemas.openxmlformats.org/drawingml/2006/main">
            <a:off x="10244138" y="266700"/>
            <a:ext cx="1000125" cy="666750"/>
          </a:xfrm>
          <a:prstGeom xmlns:a="http://schemas.openxmlformats.org/drawingml/2006/main" prst="rect">
            <a:avLst/>
          </a:prstGeom>
        </p:spPr>
      </p:pic>
      <p:sp>
        <p:nvSpPr>
          <p:cNvPr id="2" name="headline">
            <a:extLst xmlns:a="http://schemas.openxmlformats.org/drawingml/2006/main">
              <a:ext uri="{FF2B5EF4-FFF2-40B4-BE49-F238E27FC236}">
                <a16:creationId xmlns:a16="http://schemas.microsoft.com/office/drawing/2014/main" id="{70227A8F-41E5-4A79-AB6C-9DB517E9E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762000"/>
            <a:ext cx="10001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3900" b="1">
                <a:solidFill>
                  <a:srgbClr val="062D35"/>
                </a:solidFill>
              </a:defRPr>
            </a:pPr>
            <a:r>
              <a:rPr sz="3900" b="1">
                <a:solidFill>
                  <a:srgbClr val="062D35"/>
                </a:solidFill>
              </a:rPr>
              <a:t>A market you can sail across.</a:t>
            </a:r>
          </a:p>
        </p:txBody>
      </p:sp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aa37084e62548ce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4" name="cap-0">
            <a:extLst xmlns:a="http://schemas.openxmlformats.org/drawingml/2006/main">
              <a:ext uri="{FF2B5EF4-FFF2-40B4-BE49-F238E27FC236}">
                <a16:creationId xmlns:a16="http://schemas.microsoft.com/office/drawing/2014/main" id="{72849B6F-FB4E-4141-ABFB-6ACC5AC6D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READ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e3c68d571d4268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24375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6" name="cap-1">
            <a:extLst xmlns:a="http://schemas.openxmlformats.org/drawingml/2006/main">
              <a:ext uri="{FF2B5EF4-FFF2-40B4-BE49-F238E27FC236}">
                <a16:creationId xmlns:a16="http://schemas.microsoft.com/office/drawing/2014/main" id="{B3A9F620-FAA2-4B60-B3BA-24FDCDD6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2A43A"/>
                </a:solidFill>
              </a:defRPr>
            </a:pPr>
            <a:r>
              <a:rPr sz="1725" b="1">
                <a:solidFill>
                  <a:srgbClr val="F2A43A"/>
                </a:solidFill>
              </a:rPr>
              <a:t>TRAVEL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02cbe46a394bd2"/>
          <a:srcRect xmlns:a="http://schemas.openxmlformats.org/drawingml/2006/main" l="13839" t="0" r="1383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82000" y="1905000"/>
            <a:ext cx="3429000" cy="2667000"/>
          </a:xfrm>
          <a:prstGeom xmlns:a="http://schemas.openxmlformats.org/drawingml/2006/main" prst="roundRect">
            <a:avLst>
              <a:gd name="adj" fmla="val 4286"/>
            </a:avLst>
          </a:prstGeom>
        </p:spPr>
      </p:pic>
      <p:sp>
        <p:nvSpPr>
          <p:cNvPr id="8" name="cap-2">
            <a:extLst xmlns:a="http://schemas.openxmlformats.org/drawingml/2006/main">
              <a:ext uri="{FF2B5EF4-FFF2-40B4-BE49-F238E27FC236}">
                <a16:creationId xmlns:a16="http://schemas.microsoft.com/office/drawing/2014/main" id="{7E657F3F-D62C-4AE5-83CF-2DB6BD5FB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10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B4651"/>
                </a:solidFill>
              </a:defRPr>
            </a:pPr>
            <a:r>
              <a:rPr sz="1725" b="1">
                <a:solidFill>
                  <a:srgbClr val="0B4651"/>
                </a:solidFill>
              </a:rPr>
              <a:t>CATCH</a:t>
            </a:r>
          </a:p>
        </p:txBody>
      </p:sp>
      <p:sp>
        <p:nvSpPr>
          <p:cNvPr id="9" name="close">
            <a:extLst xmlns:a="http://schemas.openxmlformats.org/drawingml/2006/main">
              <a:ext uri="{FF2B5EF4-FFF2-40B4-BE49-F238E27FC236}">
                <a16:creationId xmlns:a16="http://schemas.microsoft.com/office/drawing/2014/main" id="{4194E6DA-4A63-4E35-BB73-A58348CFC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572125"/>
            <a:ext cx="8763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100">
                <a:solidFill>
                  <a:srgbClr val="062D35"/>
                </a:solidFill>
              </a:defRPr>
            </a:pPr>
            <a:r>
              <a:rPr sz="2100">
                <a:solidFill>
                  <a:srgbClr val="062D35"/>
                </a:solidFill>
              </a:rPr>
              <a:t>FSHING turns observation, timing, and trade-offs into one short browser loop.</a:t>
            </a:r>
          </a:p>
        </p:txBody>
      </p:sp>
    </p:spTree>
    <p:extLst>
      <p:ext uri="{BB962C8B-B14F-4D97-AF65-F5344CB8AC3E}">
        <p14:creationId xmlns:p14="http://schemas.microsoft.com/office/powerpoint/2010/main" val="105667990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2026-08-29T10:39:51.1020000Z</dcterms:created>
  <dcterms:modified xsi:type="dcterms:W3CDTF">2026-08-29T10:39:51.1020000Z</dcterms:modified>
</coreProperties>
</file>