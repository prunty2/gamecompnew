
<file path=[Content_Types].xml><?xml version="1.0" encoding="utf-8"?>
<Types xmlns="http://schemas.openxmlformats.org/package/2006/content-types">
  <Default Extension="xml" ContentType="application/vnd.openxmlformats-package.core-properties+xml"/>
  <Default Extension="png" ContentType="image/png"/>
  <Default Extension="rels" ContentType="application/vnd.openxmlformats-package.relationships+xml"/>
  <Override PartName="/docProps/app.xml" ContentType="application/vnd.openxmlformats-officedocument.extended-properties+xml"/>
  <Override PartName="/ppt/presentation.xml" ContentType="application/vnd.openxmlformats-officedocument.presentationml.presentation.main+xml"/>
  <Override PartName="/ppt/theme/theme1.xml" ContentType="application/vnd.openxmlformats-officedocument.theme+xml"/>
  <Override PartName="/ppt/slideMasters/slideMaster1.xml" ContentType="application/vnd.openxmlformats-officedocument.presentationml.slideMaster+xml"/>
  <Override PartName="/ppt/slideMasters/theme/theme2.xml" ContentType="application/vnd.openxmlformats-officedocument.theme+xml"/>
  <Override PartName="/ppt/slideLayouts/slideLayout1.xml" ContentType="application/vnd.openxmlformats-officedocument.presentationml.slideLayout+xml"/>
  <Override PartName="/ppt/notesMasters/notesMaster1.xml" ContentType="application/vnd.openxmlformats-officedocument.presentationml.notesMaster+xml"/>
  <Override PartName="/ppt/notesMasters/theme/theme3.xml" ContentType="application/vnd.openxmlformats-officedocument.theme+xml"/>
  <Override PartName="/ppt/presProps.xml" ContentType="application/vnd.openxmlformats-officedocument.presentationml.presProps+xml"/>
  <Override PartName="/ppt/tableStyles.xml" ContentType="application/vnd.openxmlformats-officedocument.presentationml.tableStyles+xml"/>
  <Override PartName="/ppt/slides/slide1.xml" ContentType="application/vnd.openxmlformats-officedocument.presentationml.slide+xml"/>
  <Override PartName="/ppt/notesSlides/notesSlide1.xml" ContentType="application/vnd.openxmlformats-officedocument.presentationml.notesSlide+xml"/>
  <Override PartName="/ppt/slides/slide2.xml" ContentType="application/vnd.openxmlformats-officedocument.presentationml.slide+xml"/>
  <Override PartName="/ppt/notesSlides/notesSlide2.xml" ContentType="application/vnd.openxmlformats-officedocument.presentationml.notesSlide+xml"/>
  <Override PartName="/ppt/slides/slide3.xml" ContentType="application/vnd.openxmlformats-officedocument.presentationml.slide+xml"/>
  <Override PartName="/ppt/notesSlides/notesSlide3.xml" ContentType="application/vnd.openxmlformats-officedocument.presentationml.notesSlide+xml"/>
  <Override PartName="/ppt/slides/slide4.xml" ContentType="application/vnd.openxmlformats-officedocument.presentationml.slide+xml"/>
  <Override PartName="/ppt/notesSlides/notesSlide4.xml" ContentType="application/vnd.openxmlformats-officedocument.presentationml.notesSlide+xml"/>
  <Override PartName="/ppt/slides/slide5.xml" ContentType="application/vnd.openxmlformats-officedocument.presentationml.slide+xml"/>
  <Override PartName="/ppt/notesSlides/notesSlide5.xml" ContentType="application/vnd.openxmlformats-officedocument.presentationml.notesSlide+xml"/>
  <Override PartName="/ppt/slides/slide6.xml" ContentType="application/vnd.openxmlformats-officedocument.presentationml.slide+xml"/>
  <Override PartName="/ppt/notesSlides/notesSlide6.xml" ContentType="application/vnd.openxmlformats-officedocument.presentationml.notesSlide+xml"/>
</Types>
</file>

<file path=_rels/.rels>&#65279;<?xml version="1.0" encoding="utf-8"?><Relationships xmlns="http://schemas.openxmlformats.org/package/2006/relationships"><Relationship Type="http://schemas.openxmlformats.org/package/2006/relationships/metadata/core-properties" Target="/docProps/core.xml" Id="R5b34dda7a14c45d6" /><Relationship Type="http://schemas.openxmlformats.org/officeDocument/2006/relationships/extended-properties" Target="/docProps/app.xml" Id="R168fd7fb75624e9d" /><Relationship Type="http://schemas.openxmlformats.org/officeDocument/2006/relationships/officeDocument" Target="/ppt/presentation.xml" Id="R3861bae57b3e46de" /></Relationships>
</file>

<file path=ppt/presentation.xml><?xml version="1.0" encoding="utf-8"?>
<p:presentation xmlns:p="http://schemas.openxmlformats.org/presentationml/2006/main">
  <p:sldMasterIdLst>
    <p:sldMasterId xmlns:r="http://schemas.openxmlformats.org/officeDocument/2006/relationships" id="2147483648" r:id="Rc284a09e8c794a72"/>
  </p:sldMasterIdLst>
  <p:notesMasterIdLst>
    <p:notesMasterId xmlns:r="http://schemas.openxmlformats.org/officeDocument/2006/relationships" r:id="R635bb631bf424c8a"/>
  </p:notesMasterIdLst>
  <p:sldIdLst>
    <p:sldId xmlns:r="http://schemas.openxmlformats.org/officeDocument/2006/relationships" id="256" r:id="R491445d37c134c74"/>
    <p:sldId xmlns:r="http://schemas.openxmlformats.org/officeDocument/2006/relationships" id="257" r:id="R7e8c52f21f9a478e"/>
    <p:sldId xmlns:r="http://schemas.openxmlformats.org/officeDocument/2006/relationships" id="258" r:id="R9a2c3b842d194cce"/>
    <p:sldId xmlns:r="http://schemas.openxmlformats.org/officeDocument/2006/relationships" id="259" r:id="R9e7dd9acebae4c47"/>
    <p:sldId xmlns:r="http://schemas.openxmlformats.org/officeDocument/2006/relationships" id="260" r:id="Rd7d0b958b7b349d1"/>
    <p:sldId xmlns:r="http://schemas.openxmlformats.org/officeDocument/2006/relationships" id="261" r:id="Rbabe9e8dc0a94c63"/>
  </p:sldIdLst>
  <p:sldSz cx="12192000" cy="6858000"/>
  <p:notesSz cx="6858000" cy="9144000"/>
</p:presentation>
</file>

<file path=ppt/presProps.xml><?xml version="1.0" encoding="utf-8"?>
<p:presentationPr xmlns:p="http://schemas.openxmlformats.org/presentationml/2006/main">
  <p:extLst>
    <p:ext xmlns:p14="http://schemas.microsoft.com/office/powerpoint/2010/main" uri="{E76CE94A-603C-4142-B9EB-6D1370010A27}">
      <p14:discardImageEditData val="0"/>
    </p:ext>
    <p:ext xmlns:p14="http://schemas.microsoft.com/office/powerpoint/2010/main" uri="{D31A062A-798A-4329-ABDD-BBA856620510}">
      <p14:defaultImageDpi val="32767"/>
    </p:ext>
    <p:ext xmlns:p15="http://schemas.microsoft.com/office/powerpoint/2012/main" uri="{FD5EFAAD-0ECE-453E-9831-46B23BE46B34}">
      <p15:chartTrackingRefBased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_rels/presentation.xml.rels>&#65279;<?xml version="1.0" encoding="utf-8"?><Relationships xmlns="http://schemas.openxmlformats.org/package/2006/relationships"><Relationship Type="http://schemas.openxmlformats.org/officeDocument/2006/relationships/theme" Target="/ppt/theme/theme1.xml" Id="R087907529a594a69" /><Relationship Type="http://schemas.openxmlformats.org/officeDocument/2006/relationships/slideMaster" Target="/ppt/slideMasters/slideMaster1.xml" Id="Rc284a09e8c794a72" /><Relationship Type="http://schemas.openxmlformats.org/officeDocument/2006/relationships/notesMaster" Target="/ppt/notesMasters/notesMaster1.xml" Id="R635bb631bf424c8a" /><Relationship Type="http://schemas.openxmlformats.org/officeDocument/2006/relationships/presProps" Target="/ppt/presProps.xml" Id="R75825ef9c27a4b38" /><Relationship Type="http://schemas.openxmlformats.org/officeDocument/2006/relationships/tableStyles" Target="/ppt/tableStyles.xml" Id="Rd5335f1487824492" /><Relationship Type="http://schemas.openxmlformats.org/officeDocument/2006/relationships/slide" Target="/ppt/slides/slide1.xml" Id="R491445d37c134c74" /><Relationship Type="http://schemas.openxmlformats.org/officeDocument/2006/relationships/slide" Target="/ppt/slides/slide2.xml" Id="R7e8c52f21f9a478e" /><Relationship Type="http://schemas.openxmlformats.org/officeDocument/2006/relationships/slide" Target="/ppt/slides/slide3.xml" Id="R9a2c3b842d194cce" /><Relationship Type="http://schemas.openxmlformats.org/officeDocument/2006/relationships/slide" Target="/ppt/slides/slide4.xml" Id="R9e7dd9acebae4c47" /><Relationship Type="http://schemas.openxmlformats.org/officeDocument/2006/relationships/slide" Target="/ppt/slides/slide5.xml" Id="Rd7d0b958b7b349d1" /><Relationship Type="http://schemas.openxmlformats.org/officeDocument/2006/relationships/slide" Target="/ppt/slides/slide6.xml" Id="Rbabe9e8dc0a94c63" /></Relationships>
</file>

<file path=ppt/notesMasters/_rels/notesMaster1.xml.rels>&#65279;<?xml version="1.0" encoding="utf-8"?><Relationships xmlns="http://schemas.openxmlformats.org/package/2006/relationships"><Relationship Type="http://schemas.openxmlformats.org/officeDocument/2006/relationships/theme" Target="/ppt/notesMasters/theme/theme3.xml" Id="R6bca8d3cffb24cfc" /></Relationships>
</file>

<file path=ppt/notesMasters/notesMaster1.xml><?xml version="1.0" encoding="utf-8"?>
<p:notesMaster xmlns:p="http://schemas.openxmlformats.org/presentationml/2006/main">
  <p:cSld>
    <p:bg>
      <p:bgRef idx="1001">
        <a:schemeClr xmlns:a="http://schemas.openxmlformats.org/drawingml/2006/main" val="bg1"/>
      </p:bgRef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Header Placeholder"/>
          <p:cNvSpPr/>
          <p:nvPr>
            <p:ph type="hdr" sz="quarter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3" name="Date Placeholder"/>
          <p:cNvSpPr/>
          <p:nvPr>
            <p:ph type="dt" sz="quarter" idx="1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Image Placeholder"/>
          <p:cNvSpPr/>
          <p:nvPr>
            <p:ph type="sldImg" idx="2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5" name="Notes Placeholder"/>
          <p:cNvSpPr/>
          <p:nvPr>
            <p:ph type="body" sz="quarter" idx="3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6" name="Footer Placeholder"/>
          <p:cNvSpPr/>
          <p:nvPr>
            <p:ph type="ftr" sz="quarter" idx="4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7" name="Slide Number Placeholder"/>
          <p:cNvSpPr/>
          <p:nvPr>
            <p:ph type="sldNum" sz="quarter" idx="5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 bg1="lt1" tx1="dk1" bg2="lt2" tx2="dk2" accent1="accent1" accent2="accent2" accent3="accent3" accent4="accent4" accent5="accent5" accent6="accent6" hlink="hlink" folHlink="folHlink"/>
  <p:notesStyle>
    <a:lvl1pPr xmlns:a="http://schemas.openxmlformats.org/drawingml/2006/main" marL="0" algn="l" defTabSz="914400" rtl="0" eaLnBrk="1" latinLnBrk="0" hangingPunct="1">
      <a:defRPr sz="1200" kern="1200"/>
    </a:lvl1pPr>
  </p:notesStyle>
</p:notesMaster>
</file>

<file path=ppt/notesMasters/theme/theme3.xml><?xml version="1.0" encoding="utf-8"?>
<a:theme xmlns:a="http://schemas.openxmlformats.org/drawingml/2006/main" name="ChatGPT">
  <a:themeElements>
    <a:clrScheme name="ChatGPT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Calibri Light"/>
        <a:ea typeface="Calibri Light"/>
        <a:cs typeface="Calibri Light"/>
      </a:majorFont>
      <a:minorFont>
        <a:latin typeface="Calibri"/>
        <a:ea typeface="Calibri"/>
        <a:cs typeface="Calibri"/>
      </a:minorFont>
    </a:fontScheme>
    <a:fmtScheme name="ChatGPT">
      <a:fillStyleLst>
        <a:solidFill>
          <a:schemeClr val="phClr"/>
        </a:solidFill>
        <a:gradFill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ppt/notesSlides/_rels/notesSlide1.xml.rels>&#65279;<?xml version="1.0" encoding="utf-8"?><Relationships xmlns="http://schemas.openxmlformats.org/package/2006/relationships"><Relationship Type="http://schemas.openxmlformats.org/officeDocument/2006/relationships/slide" Target="/ppt/slides/slide1.xml" Id="R6b58704cdcc545d0" /><Relationship Type="http://schemas.openxmlformats.org/officeDocument/2006/relationships/notesMaster" Target="/ppt/notesMasters/notesMaster1.xml" Id="R0db0d17431ed48e5" /></Relationships>
</file>

<file path=ppt/notesSlides/_rels/notesSlide2.xml.rels>&#65279;<?xml version="1.0" encoding="utf-8"?><Relationships xmlns="http://schemas.openxmlformats.org/package/2006/relationships"><Relationship Type="http://schemas.openxmlformats.org/officeDocument/2006/relationships/slide" Target="/ppt/slides/slide2.xml" Id="R2d6c3b158ac14f17" /><Relationship Type="http://schemas.openxmlformats.org/officeDocument/2006/relationships/notesMaster" Target="/ppt/notesMasters/notesMaster1.xml" Id="R45b4ab9e3dde4942" /></Relationships>
</file>

<file path=ppt/notesSlides/_rels/notesSlide3.xml.rels>&#65279;<?xml version="1.0" encoding="utf-8"?><Relationships xmlns="http://schemas.openxmlformats.org/package/2006/relationships"><Relationship Type="http://schemas.openxmlformats.org/officeDocument/2006/relationships/slide" Target="/ppt/slides/slide3.xml" Id="R8515a70275df4643" /><Relationship Type="http://schemas.openxmlformats.org/officeDocument/2006/relationships/notesMaster" Target="/ppt/notesMasters/notesMaster1.xml" Id="R5c5489e3de814294" /></Relationships>
</file>

<file path=ppt/notesSlides/_rels/notesSlide4.xml.rels>&#65279;<?xml version="1.0" encoding="utf-8"?><Relationships xmlns="http://schemas.openxmlformats.org/package/2006/relationships"><Relationship Type="http://schemas.openxmlformats.org/officeDocument/2006/relationships/slide" Target="/ppt/slides/slide4.xml" Id="R105bda62c2f14942" /><Relationship Type="http://schemas.openxmlformats.org/officeDocument/2006/relationships/notesMaster" Target="/ppt/notesMasters/notesMaster1.xml" Id="R2442a550f6a248c3" /></Relationships>
</file>

<file path=ppt/notesSlides/_rels/notesSlide5.xml.rels>&#65279;<?xml version="1.0" encoding="utf-8"?><Relationships xmlns="http://schemas.openxmlformats.org/package/2006/relationships"><Relationship Type="http://schemas.openxmlformats.org/officeDocument/2006/relationships/slide" Target="/ppt/slides/slide5.xml" Id="R73660d09f7784b44" /><Relationship Type="http://schemas.openxmlformats.org/officeDocument/2006/relationships/notesMaster" Target="/ppt/notesMasters/notesMaster1.xml" Id="R3e675e5008f043f7" /></Relationships>
</file>

<file path=ppt/notesSlides/_rels/notesSlide6.xml.rels>&#65279;<?xml version="1.0" encoding="utf-8"?><Relationships xmlns="http://schemas.openxmlformats.org/package/2006/relationships"><Relationship Type="http://schemas.openxmlformats.org/officeDocument/2006/relationships/slide" Target="/ppt/slides/slide6.xml" Id="R6307784664404ad6" /><Relationship Type="http://schemas.openxmlformats.org/officeDocument/2006/relationships/notesMaster" Target="/ppt/notesMasters/notesMaster1.xml" Id="Rc351182f878c48b5" /></Relationships>
</file>

<file path=ppt/notesSlides/notesSlide1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FSHING is a fishing game where the lake is also a marketplace.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In-game lake environment: src/assets/lake-chart.png</a:t>
            </a:r>
          </a:p>
          <a:p xmlns:a="http://schemas.openxmlformats.org/drawingml/2006/main">
            <a:r>
              <a:t>- Project wordmark: src/assets/fshing-wordmark.png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2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You do not just catch fish. You read today's quote and choose a target before leaving the harbour.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Current game screenshot: Docs/incursion/screenshots/04-market-detail.png</a:t>
            </a:r>
          </a:p>
          <a:p xmlns:a="http://schemas.openxmlformats.org/drawingml/2006/main">
            <a:r>
              <a:t>- Game rules: Docs/Game-Brief.md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3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The systems support one another: the market creates a route, fishing creates cargo, and upgrades change the next trip.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Core loop and upgrades: Docs/Game-Brief.md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4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The boat is the visible player character. Its crane, crate, and lantern show what it does before the player reads a rule.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Production boat: src/assets/player-boat.png</a:t>
            </a:r>
          </a:p>
          <a:p xmlns:a="http://schemas.openxmlformats.org/drawingml/2006/main">
            <a:r>
              <a:t>- Transparent presentation derivative: Docs/incursion/assets/working-boat-transparent.png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5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Fishing is not a hold-to-fill meter. The fish runs, the line tightens, and the player must release to let it take line.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Current game screenshot: Docs/incursion/screenshots/08-fishing.png</a:t>
            </a:r>
          </a:p>
          <a:p xmlns:a="http://schemas.openxmlformats.org/drawingml/2006/main">
            <a:r>
              <a:t>- Fishing rules: Docs/Game-Brief.md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6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FSHING teaches through consequence: read the market, act on the information, and see whether the trip paid off.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Current game screenshots: Docs/incursion/screenshots/03-market.png, 07-tracked-sailing.png, 08-fishing.png</a:t>
            </a:r>
          </a:p>
          <a:p xmlns:a="http://schemas.openxmlformats.org/drawingml/2006/main">
            <a:r>
              <a:t>- Project wordmark: src/assets/fshing-wordmark.png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slideLayouts/_rels/slideLayout1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8172f7dac2674dcf" /></Relationships>
</file>

<file path=ppt/slideLayouts/slideLayout1.xml><?xml version="1.0" encoding="utf-8"?>
<p:sldLayout xmlns:p="http://schemas.openxmlformats.org/presentationml/2006/main" type="title">
  <p:cSld name="Title Slide">
    <p:spTree>
      <p:nvGrpSpPr>
        <p:cNvPr id="1" name=""/>
        <p:cNvGrpSpPr/>
        <p:nvPr/>
      </p:nvGrpSpPr>
      <p:grpSpPr>
        <a:xfrm xmlns:a="http://schemas.openxmlformats.org/drawingml/2006/main"/>
      </p:grpSpPr>
    </p:spTree>
  </p:cSld>
</p:sldLayout>
</file>

<file path=ppt/slideMasters/_rels/slideMaster1.xml.rels>&#65279;<?xml version="1.0" encoding="utf-8"?><Relationships xmlns="http://schemas.openxmlformats.org/package/2006/relationships"><Relationship Type="http://schemas.openxmlformats.org/officeDocument/2006/relationships/theme" Target="/ppt/slideMasters/theme/theme2.xml" Id="Rdba1b573e04f4959" /><Relationship Type="http://schemas.openxmlformats.org/officeDocument/2006/relationships/slideLayout" Target="/ppt/slideLayouts/slideLayout1.xml" Id="R37e87a756cde4cda" /></Relationships>
</file>

<file path=ppt/slideMasters/slideMaster1.xml><?xml version="1.0" encoding="utf-8"?>
<p:sldMaster xmlns:p="http://schemas.openxmlformats.org/presentationml/2006/main">
  <p:cSld name="Master">
    <p:bg>
      <p:bgRef idx="1001">
        <a:schemeClr xmlns:a="http://schemas.openxmlformats.org/drawingml/2006/main" val="bg1"/>
      </p:bgRef>
    </p:bg>
    <p:spTree>
      <p:nvGrpSpPr>
        <p:cNvPr id="1" name=""/>
        <p:cNvGrpSpPr/>
        <p:nvPr/>
      </p:nvGrpSpPr>
      <p:grpSpPr>
        <a:xfrm xmlns:a="http://schemas.openxmlformats.org/drawingml/2006/main"/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xmlns:r="http://schemas.openxmlformats.org/officeDocument/2006/relationships" id="2147483649" r:id="R37e87a756cde4cda"/>
  </p:sldLayoutIdLst>
  <p:txStyles>
    <p:titleStyle>
      <a:lvl1pPr xmlns:a="http://schemas.openxmlformats.org/drawingml/2006/main" algn="l">
        <a:lnSpc>
          <a:spcPct val="90000"/>
        </a:lnSpc>
        <a:spcBef>
          <a:spcPts val="0"/>
        </a:spcBef>
        <a:buNone/>
        <a:defRPr sz="4400">
          <a:solidFill>
            <a:schemeClr val="tx1"/>
          </a:solidFill>
          <a:latin typeface="+mj-lt"/>
          <a:ea typeface="+mj-lt"/>
          <a:cs typeface="+mj-lt"/>
        </a:defRPr>
      </a:lvl1pPr>
    </p:titleStyle>
    <p:bodyStyle>
      <a:lvl1pPr xmlns:a="http://schemas.openxmlformats.org/drawingml/2006/main" marL="228600" indent="-228600" algn="l">
        <a:lnSpc>
          <a:spcPct val="90000"/>
        </a:lnSpc>
        <a:spcBef>
          <a:spcPts val="1000"/>
        </a:spcBef>
        <a:buChar char="•"/>
        <a:defRPr sz="2800">
          <a:solidFill>
            <a:schemeClr val="tx1"/>
          </a:solidFill>
          <a:latin typeface="+mn-lt"/>
          <a:ea typeface="+mn-lt"/>
          <a:cs typeface="+mn-lt"/>
        </a:defRPr>
      </a:lvl1pPr>
      <a:lvl2pPr xmlns:a="http://schemas.openxmlformats.org/drawingml/2006/main" marL="685800" indent="-228600" algn="l">
        <a:lnSpc>
          <a:spcPct val="90000"/>
        </a:lnSpc>
        <a:spcBef>
          <a:spcPts val="500"/>
        </a:spcBef>
        <a:buChar char="•"/>
        <a:defRPr sz="2400">
          <a:solidFill>
            <a:schemeClr val="tx1"/>
          </a:solidFill>
          <a:latin typeface="+mn-lt"/>
          <a:ea typeface="+mn-lt"/>
          <a:cs typeface="+mn-lt"/>
        </a:defRPr>
      </a:lvl2pPr>
      <a:lvl3pPr xmlns:a="http://schemas.openxmlformats.org/drawingml/2006/main" marL="1143000" indent="-228600" algn="l">
        <a:lnSpc>
          <a:spcPct val="90000"/>
        </a:lnSpc>
        <a:spcBef>
          <a:spcPts val="500"/>
        </a:spcBef>
        <a:buChar char="•"/>
        <a:defRPr sz="2000">
          <a:solidFill>
            <a:schemeClr val="tx1"/>
          </a:solidFill>
          <a:latin typeface="+mn-lt"/>
          <a:ea typeface="+mn-lt"/>
          <a:cs typeface="+mn-lt"/>
        </a:defRPr>
      </a:lvl3pPr>
      <a:lvl4pPr xmlns:a="http://schemas.openxmlformats.org/drawingml/2006/main" marL="16002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4pPr>
      <a:lvl5pPr xmlns:a="http://schemas.openxmlformats.org/drawingml/2006/main" marL="20574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5pPr>
      <a:lvl6pPr xmlns:a="http://schemas.openxmlformats.org/drawingml/2006/main" marL="25146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6pPr>
      <a:lvl7pPr xmlns:a="http://schemas.openxmlformats.org/drawingml/2006/main" marL="29718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7pPr>
      <a:lvl8pPr xmlns:a="http://schemas.openxmlformats.org/drawingml/2006/main" marL="34290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8pPr>
      <a:lvl9pPr xmlns:a="http://schemas.openxmlformats.org/drawingml/2006/main" marL="38862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9pPr>
    </p:bodyStyle>
    <p:otherStyle>
      <a:lvl1pPr xmlns:a="http://schemas.openxmlformats.org/drawingml/2006/main" marL="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1pPr>
      <a:lvl2pPr xmlns:a="http://schemas.openxmlformats.org/drawingml/2006/main" marL="4572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2pPr>
      <a:lvl3pPr xmlns:a="http://schemas.openxmlformats.org/drawingml/2006/main" marL="9144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3pPr>
      <a:lvl4pPr xmlns:a="http://schemas.openxmlformats.org/drawingml/2006/main" marL="13716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4pPr>
      <a:lvl5pPr xmlns:a="http://schemas.openxmlformats.org/drawingml/2006/main" marL="18288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5pPr>
      <a:lvl6pPr xmlns:a="http://schemas.openxmlformats.org/drawingml/2006/main" marL="22860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6pPr>
      <a:lvl7pPr xmlns:a="http://schemas.openxmlformats.org/drawingml/2006/main" marL="27432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7pPr>
      <a:lvl8pPr xmlns:a="http://schemas.openxmlformats.org/drawingml/2006/main" marL="32004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8pPr>
      <a:lvl9pPr xmlns:a="http://schemas.openxmlformats.org/drawingml/2006/main" marL="36576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9pPr>
    </p:otherStyle>
  </p:txStyles>
</p:sldMaster>
</file>

<file path=ppt/slideMasters/theme/theme2.xml><?xml version="1.0" encoding="utf-8"?>
<a:theme xmlns:a="http://schemas.openxmlformats.org/drawingml/2006/main" name="ChatGPT">
  <a:themeElements>
    <a:clrScheme name="ChatGPT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Calibri Light"/>
        <a:ea typeface="Calibri Light"/>
        <a:cs typeface="Calibri Light"/>
      </a:majorFont>
      <a:minorFont>
        <a:latin typeface="Calibri"/>
        <a:ea typeface="Calibri"/>
        <a:cs typeface="Calibri"/>
      </a:minorFont>
    </a:fontScheme>
    <a:fmtScheme name="ChatGPT">
      <a:fillStyleLst>
        <a:solidFill>
          <a:schemeClr val="phClr"/>
        </a:solidFill>
        <a:gradFill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ppt/slides/_rels/slide1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d9832f1d0c994af0" /><Relationship Type="http://schemas.openxmlformats.org/officeDocument/2006/relationships/image" Target="/ppt/media/image.png" Id="R549f9d29b2834647" /><Relationship Type="http://schemas.openxmlformats.org/officeDocument/2006/relationships/image" Target="/ppt/media/image2.png" Id="R76e5f8c459f14447" /><Relationship Type="http://schemas.openxmlformats.org/officeDocument/2006/relationships/notesSlide" Target="/ppt/notesSlides/notesSlide1.xml" Id="R876d91cd5bbb4ea3" /></Relationships>
</file>

<file path=ppt/slides/_rels/slide2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33e226576c594952" /><Relationship Type="http://schemas.openxmlformats.org/officeDocument/2006/relationships/image" Target="/ppt/media/image3.png" Id="R0ee7b0fc0b8a44e9" /><Relationship Type="http://schemas.openxmlformats.org/officeDocument/2006/relationships/image" Target="/ppt/media/image4.png" Id="R3d43a38af0b0417e" /><Relationship Type="http://schemas.openxmlformats.org/officeDocument/2006/relationships/notesSlide" Target="/ppt/notesSlides/notesSlide2.xml" Id="Rb3e8935bbd0b4dce" /></Relationships>
</file>

<file path=ppt/slides/_rels/slide3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5d344f79339d44b4" /><Relationship Type="http://schemas.openxmlformats.org/officeDocument/2006/relationships/image" Target="/ppt/media/image5.png" Id="R4f93eba9267541ef" /><Relationship Type="http://schemas.openxmlformats.org/officeDocument/2006/relationships/notesSlide" Target="/ppt/notesSlides/notesSlide3.xml" Id="R725cf1d420b54ed5" /></Relationships>
</file>

<file path=ppt/slides/_rels/slide4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c37e73ba9c884a1e" /><Relationship Type="http://schemas.openxmlformats.org/officeDocument/2006/relationships/image" Target="/ppt/media/image6.png" Id="R8812c94116ca448f" /><Relationship Type="http://schemas.openxmlformats.org/officeDocument/2006/relationships/image" Target="/ppt/media/image7.png" Id="R7a1f2fed28b441f7" /><Relationship Type="http://schemas.openxmlformats.org/officeDocument/2006/relationships/notesSlide" Target="/ppt/notesSlides/notesSlide4.xml" Id="Rea949e2206fa4c90" /></Relationships>
</file>

<file path=ppt/slides/_rels/slide5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32743d901df54c83" /><Relationship Type="http://schemas.openxmlformats.org/officeDocument/2006/relationships/image" Target="/ppt/media/image8.png" Id="R74ab34c5c4f04094" /><Relationship Type="http://schemas.openxmlformats.org/officeDocument/2006/relationships/notesSlide" Target="/ppt/notesSlides/notesSlide5.xml" Id="R5765343254644d57" /></Relationships>
</file>

<file path=ppt/slides/_rels/slide6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02c788fa0ec240f5" /><Relationship Type="http://schemas.openxmlformats.org/officeDocument/2006/relationships/image" Target="/ppt/media/image9.png" Id="R6445991a95dc43bd" /><Relationship Type="http://schemas.openxmlformats.org/officeDocument/2006/relationships/image" Target="/ppt/media/image10.png" Id="R0a499787a3a54f6e" /><Relationship Type="http://schemas.openxmlformats.org/officeDocument/2006/relationships/image" Target="/ppt/media/image11.png" Id="Rc13d36a272e1498b" /><Relationship Type="http://schemas.openxmlformats.org/officeDocument/2006/relationships/image" Target="/ppt/media/image12.png" Id="R980fd04ea41f429a" /><Relationship Type="http://schemas.openxmlformats.org/officeDocument/2006/relationships/notesSlide" Target="/ppt/notesSlides/notesSlide6.xml" Id="Rf14c61e1aae24b0b" /></Relationships>
</file>

<file path=ppt/slides/slide1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pic>
        <p:nvPicPr>
          <p:cNvPr id="8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549f9d29b2834647"/>
          <a:srcRect xmlns:a="http://schemas.openxmlformats.org/drawingml/2006/main" l="0" t="27" r="0" b="27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0" y="0"/>
            <a:ext cx="12192000" cy="6858000"/>
          </a:xfrm>
          <a:prstGeom xmlns:a="http://schemas.openxmlformats.org/drawingml/2006/main" prst="rect">
            <a:avLst/>
          </a:prstGeom>
        </p:spPr>
      </p:pic>
      <p:sp>
        <p:nvSpPr>
          <p:cNvPr id="2" name="title-wash">
            <a:extLst xmlns:a="http://schemas.openxmlformats.org/drawingml/2006/main">
              <a:ext uri="{FF2B5EF4-FFF2-40B4-BE49-F238E27FC236}">
                <a16:creationId xmlns:a16="http://schemas.microsoft.com/office/drawing/2014/main" id="{DFEF3E70-2945-44D2-A34D-DD5432E259C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2192000" cy="6858000"/>
          </a:xfrm>
          <a:prstGeom xmlns:a="http://schemas.openxmlformats.org/drawingml/2006/main" prst="roundRect">
            <a:avLst>
              <a:gd name="adj" fmla="val 0"/>
            </a:avLst>
          </a:prstGeom>
          <a:solidFill xmlns:a="http://schemas.openxmlformats.org/drawingml/2006/main">
            <a:srgbClr val="062D35">
              <a:alpha val="72157"/>
            </a:srgbClr>
          </a:solidFill>
          <a:ln xmlns:a="http://schemas.openxmlformats.org/drawingml/2006/main" w="0">
            <a:noFill/>
            <a:prstDash val="solid"/>
          </a:ln>
        </p:spPr>
      </p:sp>
      <p:pic>
        <p:nvPicPr>
          <p:cNvPr id="10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76e5f8c459f14447"/>
          <a:stretch xmlns:a="http://schemas.openxmlformats.org/drawingml/2006/main"/>
        </p:blipFill>
        <p:spPr>
          <a:xfrm xmlns:a="http://schemas.openxmlformats.org/drawingml/2006/main">
            <a:off x="4095750" y="1000125"/>
            <a:ext cx="4000500" cy="2667000"/>
          </a:xfrm>
          <a:prstGeom xmlns:a="http://schemas.openxmlformats.org/drawingml/2006/main" prst="rect">
            <a:avLst/>
          </a:prstGeom>
        </p:spPr>
      </p:pic>
      <p:sp>
        <p:nvSpPr>
          <p:cNvPr id="4" name="tagline">
            <a:extLst xmlns:a="http://schemas.openxmlformats.org/drawingml/2006/main">
              <a:ext uri="{FF2B5EF4-FFF2-40B4-BE49-F238E27FC236}">
                <a16:creationId xmlns:a16="http://schemas.microsoft.com/office/drawing/2014/main" id="{2460AF74-69E2-4813-99E6-77CBF4AE32A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3952875"/>
            <a:ext cx="10668000" cy="685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buNone/>
              <a:defRPr sz="1950" b="1">
                <a:solidFill>
                  <a:srgbClr val="F6EDDA"/>
                </a:solidFill>
              </a:defRPr>
            </a:pPr>
            <a:r>
              <a:rPr sz="1950" b="1">
                <a:solidFill>
                  <a:srgbClr val="F6EDDA"/>
                </a:solidFill>
              </a:rPr>
              <a:t>CATCH THE FISH. SELL YOUR HAUL. ENHANCE YOUR EQUIPMENT.</a:t>
            </a:r>
          </a:p>
        </p:txBody>
      </p:sp>
      <p:sp>
        <p:nvSpPr>
          <p:cNvPr id="5" name="team">
            <a:extLst xmlns:a="http://schemas.openxmlformats.org/drawingml/2006/main">
              <a:ext uri="{FF2B5EF4-FFF2-40B4-BE49-F238E27FC236}">
                <a16:creationId xmlns:a16="http://schemas.microsoft.com/office/drawing/2014/main" id="{52A9E62C-31F6-4BBB-B775-1BC06F1A6CA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714750" y="5810250"/>
            <a:ext cx="4762500" cy="304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buNone/>
              <a:defRPr sz="1350">
                <a:solidFill>
                  <a:srgbClr val="E8F0EC">
                    <a:alpha val="80000"/>
                  </a:srgbClr>
                </a:solidFill>
              </a:defRPr>
            </a:pPr>
            <a:r>
              <a:rPr sz="1350">
                <a:solidFill>
                  <a:srgbClr val="E8F0EC">
                    <a:alpha val="80000"/>
                  </a:srgbClr>
                </a:solidFill>
              </a:rPr>
              <a:t>Liam  ·  Saxon  ·  Harrison  ·  David</a:t>
            </a:r>
          </a:p>
        </p:txBody>
      </p:sp>
    </p:spTree>
    <p:extLst>
      <p:ext uri="{BB962C8B-B14F-4D97-AF65-F5344CB8AC3E}">
        <p14:creationId xmlns:p14="http://schemas.microsoft.com/office/powerpoint/2010/main" val="61099093"/>
      </p:ext>
    </p:extLst>
  </p:cSld>
</p:sld>
</file>

<file path=ppt/slides/slide2.xml><?xml version="1.0" encoding="utf-8"?>
<p:sld xmlns:p="http://schemas.openxmlformats.org/presentationml/2006/main">
  <p:cSld>
    <p:bg>
      <p:bgPr>
        <a:solidFill xmlns:a="http://schemas.openxmlformats.org/drawingml/2006/main">
          <a:srgbClr val="F6EDDA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pic>
        <p:nvPicPr>
          <p:cNvPr id="9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0ee7b0fc0b8a44e9"/>
          <a:stretch xmlns:a="http://schemas.openxmlformats.org/drawingml/2006/main"/>
        </p:blipFill>
        <p:spPr>
          <a:xfrm xmlns:a="http://schemas.openxmlformats.org/drawingml/2006/main">
            <a:off x="10244138" y="266700"/>
            <a:ext cx="1000125" cy="666750"/>
          </a:xfrm>
          <a:prstGeom xmlns:a="http://schemas.openxmlformats.org/drawingml/2006/main" prst="rect">
            <a:avLst/>
          </a:prstGeom>
        </p:spPr>
      </p:pic>
      <p:sp>
        <p:nvSpPr>
          <p:cNvPr id="2" name="eyebrow">
            <a:extLst xmlns:a="http://schemas.openxmlformats.org/drawingml/2006/main">
              <a:ext uri="{FF2B5EF4-FFF2-40B4-BE49-F238E27FC236}">
                <a16:creationId xmlns:a16="http://schemas.microsoft.com/office/drawing/2014/main" id="{8DE60164-DAE7-440C-B129-88841F7EA78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514350"/>
            <a:ext cx="28575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buNone/>
              <a:defRPr sz="1350" b="1">
                <a:solidFill>
                  <a:srgbClr val="F2A43A"/>
                </a:solidFill>
              </a:defRPr>
            </a:pPr>
            <a:r>
              <a:rPr sz="1350" b="1">
                <a:solidFill>
                  <a:srgbClr val="F2A43A"/>
                </a:solidFill>
              </a:rPr>
              <a:t>THE IDEA</a:t>
            </a:r>
          </a:p>
        </p:txBody>
      </p:sp>
      <p:sp>
        <p:nvSpPr>
          <p:cNvPr id="3" name="headline">
            <a:extLst xmlns:a="http://schemas.openxmlformats.org/drawingml/2006/main">
              <a:ext uri="{FF2B5EF4-FFF2-40B4-BE49-F238E27FC236}">
                <a16:creationId xmlns:a16="http://schemas.microsoft.com/office/drawing/2014/main" id="{03507D43-82E7-4C3A-B5A5-52D8DED730E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1095375"/>
            <a:ext cx="4857750" cy="14763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buNone/>
              <a:defRPr sz="3900" b="1">
                <a:solidFill>
                  <a:srgbClr val="062D35"/>
                </a:solidFill>
              </a:defRPr>
            </a:pPr>
            <a:r>
              <a:rPr sz="3900" b="1">
                <a:solidFill>
                  <a:srgbClr val="062D35"/>
                </a:solidFill>
              </a:rPr>
              <a:t>Every trip begins with a price.</a:t>
            </a:r>
          </a:p>
        </p:txBody>
      </p:sp>
      <p:sp>
        <p:nvSpPr>
          <p:cNvPr id="4" name="body">
            <a:extLst xmlns:a="http://schemas.openxmlformats.org/drawingml/2006/main">
              <a:ext uri="{FF2B5EF4-FFF2-40B4-BE49-F238E27FC236}">
                <a16:creationId xmlns:a16="http://schemas.microsoft.com/office/drawing/2014/main" id="{BB8D9A37-9E72-4AF7-9EAF-EFD05FF76C9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2857500"/>
            <a:ext cx="4476750" cy="1143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buNone/>
              <a:defRPr sz="1950">
                <a:solidFill>
                  <a:srgbClr val="0B4651"/>
                </a:solidFill>
              </a:defRPr>
            </a:pPr>
            <a:r>
              <a:rPr sz="1950">
                <a:solidFill>
                  <a:srgbClr val="0B4651"/>
                </a:solidFill>
              </a:rPr>
              <a:t>Compare the current fish prices across the market. Choose what you want to catch.</a:t>
            </a:r>
          </a:p>
        </p:txBody>
      </p:sp>
      <p:pic>
        <p:nvPicPr>
          <p:cNvPr id="13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3d43a38af0b0417e"/>
          <a:srcRect xmlns:a="http://schemas.openxmlformats.org/drawingml/2006/main" l="14694" t="0" r="14694" b="0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5905500" y="1123950"/>
            <a:ext cx="5619750" cy="4476750"/>
          </a:xfrm>
          <a:prstGeom xmlns:a="http://schemas.openxmlformats.org/drawingml/2006/main" prst="roundRect">
            <a:avLst>
              <a:gd name="adj" fmla="val 3404"/>
            </a:avLst>
          </a:prstGeom>
        </p:spPr>
      </p:pic>
      <p:sp>
        <p:nvSpPr>
          <p:cNvPr id="6" name="orange-rule">
            <a:extLst xmlns:a="http://schemas.openxmlformats.org/drawingml/2006/main">
              <a:ext uri="{FF2B5EF4-FFF2-40B4-BE49-F238E27FC236}">
                <a16:creationId xmlns:a16="http://schemas.microsoft.com/office/drawing/2014/main" id="{5623F1F6-DCB9-4433-9B39-212F90A649B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4953000"/>
            <a:ext cx="3714750" cy="76200"/>
          </a:xfrm>
          <a:prstGeom xmlns:a="http://schemas.openxmlformats.org/drawingml/2006/main" prst="roundRect">
            <a:avLst>
              <a:gd name="adj" fmla="val 50000"/>
            </a:avLst>
          </a:prstGeom>
          <a:solidFill xmlns:a="http://schemas.openxmlformats.org/drawingml/2006/main">
            <a:srgbClr val="F2A43A"/>
          </a:solidFill>
          <a:ln xmlns:a="http://schemas.openxmlformats.org/drawingml/2006/main" w="0">
            <a:noFill/>
            <a:prstDash val="solid"/>
          </a:ln>
        </p:spPr>
      </p:sp>
    </p:spTree>
    <p:extLst>
      <p:ext uri="{BB962C8B-B14F-4D97-AF65-F5344CB8AC3E}">
        <p14:creationId xmlns:p14="http://schemas.microsoft.com/office/powerpoint/2010/main" val="1639209177"/>
      </p:ext>
    </p:extLst>
  </p:cSld>
</p:sld>
</file>

<file path=ppt/slides/slide3.xml><?xml version="1.0" encoding="utf-8"?>
<p:sld xmlns:p="http://schemas.openxmlformats.org/presentationml/2006/main">
  <p:cSld>
    <p:bg>
      <p:bgPr>
        <a:solidFill xmlns:a="http://schemas.openxmlformats.org/drawingml/2006/main">
          <a:srgbClr val="062D35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pic>
        <p:nvPicPr>
          <p:cNvPr id="30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4f93eba9267541ef"/>
          <a:stretch xmlns:a="http://schemas.openxmlformats.org/drawingml/2006/main"/>
        </p:blipFill>
        <p:spPr>
          <a:xfrm xmlns:a="http://schemas.openxmlformats.org/drawingml/2006/main">
            <a:off x="10244138" y="266700"/>
            <a:ext cx="1000125" cy="666750"/>
          </a:xfrm>
          <a:prstGeom xmlns:a="http://schemas.openxmlformats.org/drawingml/2006/main" prst="rect">
            <a:avLst/>
          </a:prstGeom>
        </p:spPr>
      </p:pic>
      <p:sp>
        <p:nvSpPr>
          <p:cNvPr id="2" name="headline">
            <a:extLst xmlns:a="http://schemas.openxmlformats.org/drawingml/2006/main">
              <a:ext uri="{FF2B5EF4-FFF2-40B4-BE49-F238E27FC236}">
                <a16:creationId xmlns:a16="http://schemas.microsoft.com/office/drawing/2014/main" id="{3AC602C3-9D43-427A-8313-8A5466C6F29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647700"/>
            <a:ext cx="6858000" cy="723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buNone/>
              <a:defRPr sz="3600" b="1">
                <a:solidFill>
                  <a:srgbClr val="F6EDDA"/>
                </a:solidFill>
              </a:defRPr>
            </a:pPr>
            <a:r>
              <a:rPr sz="3600" b="1">
                <a:solidFill>
                  <a:srgbClr val="F6EDDA"/>
                </a:solidFill>
              </a:rPr>
              <a:t>The game loop</a:t>
            </a:r>
          </a:p>
        </p:txBody>
      </p:sp>
      <p:sp>
        <p:nvSpPr>
          <p:cNvPr id="9" name="step-2">
            <a:extLst xmlns:a="http://schemas.openxmlformats.org/drawingml/2006/main">
              <a:ext uri="{FF2B5EF4-FFF2-40B4-BE49-F238E27FC236}">
                <a16:creationId xmlns:a16="http://schemas.microsoft.com/office/drawing/2014/main" id="{336CA752-3331-4DC5-A18D-C592E7E2B3E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114550" y="2190750"/>
            <a:ext cx="1381125" cy="1381125"/>
          </a:xfrm>
          <a:prstGeom xmlns:a="http://schemas.openxmlformats.org/drawingml/2006/main" prst="roundRect">
            <a:avLst>
              <a:gd name="adj" fmla="val 50000"/>
            </a:avLst>
          </a:prstGeom>
          <a:solidFill xmlns:a="http://schemas.openxmlformats.org/drawingml/2006/main">
            <a:srgbClr val="0B4651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0" name="icon-2">
            <a:extLst xmlns:a="http://schemas.openxmlformats.org/drawingml/2006/main">
              <a:ext uri="{FF2B5EF4-FFF2-40B4-BE49-F238E27FC236}">
                <a16:creationId xmlns:a16="http://schemas.microsoft.com/office/drawing/2014/main" id="{8608BBBF-1735-4157-AD92-A0BB4C061F2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495550" y="2381250"/>
            <a:ext cx="619125" cy="552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buNone/>
              <a:defRPr sz="3150" b="1">
                <a:solidFill>
                  <a:srgbClr val="F6EDDA"/>
                </a:solidFill>
              </a:defRPr>
            </a:pPr>
            <a:r>
              <a:rPr sz="3150" b="1">
                <a:solidFill>
                  <a:srgbClr val="F6EDDA"/>
                </a:solidFill>
              </a:rPr>
              <a:t>➤</a:t>
            </a:r>
          </a:p>
        </p:txBody>
      </p:sp>
      <p:sp>
        <p:nvSpPr>
          <p:cNvPr id="11" name="label-2">
            <a:extLst xmlns:a="http://schemas.openxmlformats.org/drawingml/2006/main">
              <a:ext uri="{FF2B5EF4-FFF2-40B4-BE49-F238E27FC236}">
                <a16:creationId xmlns:a16="http://schemas.microsoft.com/office/drawing/2014/main" id="{C6450E40-C53A-44FB-9E4E-8D3AC8641E2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228850" y="3048000"/>
            <a:ext cx="1152525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buNone/>
              <a:defRPr sz="1275" b="1">
                <a:solidFill>
                  <a:srgbClr val="F6EDDA"/>
                </a:solidFill>
              </a:defRPr>
            </a:pPr>
            <a:r>
              <a:rPr sz="1275" b="1">
                <a:solidFill>
                  <a:srgbClr val="F6EDDA"/>
                </a:solidFill>
              </a:rPr>
              <a:t>SAIL</a:t>
            </a:r>
          </a:p>
        </p:txBody>
      </p:sp>
      <p:sp>
        <p:nvSpPr>
          <p:cNvPr id="12" name="arrow-2">
            <a:extLst xmlns:a="http://schemas.openxmlformats.org/drawingml/2006/main">
              <a:ext uri="{FF2B5EF4-FFF2-40B4-BE49-F238E27FC236}">
                <a16:creationId xmlns:a16="http://schemas.microsoft.com/office/drawing/2014/main" id="{4BDE52E1-6799-402E-9BB6-DF8E04761B3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495675" y="2619375"/>
            <a:ext cx="26670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buNone/>
              <a:defRPr sz="2100" b="1">
                <a:solidFill>
                  <a:srgbClr val="F2A43A"/>
                </a:solidFill>
              </a:defRPr>
            </a:pPr>
            <a:r>
              <a:rPr sz="2100" b="1">
                <a:solidFill>
                  <a:srgbClr val="F2A43A"/>
                </a:solidFill>
              </a:rPr>
              <a:t>→</a:t>
            </a:r>
          </a:p>
        </p:txBody>
      </p:sp>
      <p:sp>
        <p:nvSpPr>
          <p:cNvPr id="13" name="step-3">
            <a:extLst xmlns:a="http://schemas.openxmlformats.org/drawingml/2006/main">
              <a:ext uri="{FF2B5EF4-FFF2-40B4-BE49-F238E27FC236}">
                <a16:creationId xmlns:a16="http://schemas.microsoft.com/office/drawing/2014/main" id="{801669F4-025C-422B-8356-DAFAD06E771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762375" y="2190750"/>
            <a:ext cx="1381125" cy="1381125"/>
          </a:xfrm>
          <a:prstGeom xmlns:a="http://schemas.openxmlformats.org/drawingml/2006/main" prst="roundRect">
            <a:avLst>
              <a:gd name="adj" fmla="val 50000"/>
            </a:avLst>
          </a:prstGeom>
          <a:solidFill xmlns:a="http://schemas.openxmlformats.org/drawingml/2006/main">
            <a:srgbClr val="0B4651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4" name="icon-3">
            <a:extLst xmlns:a="http://schemas.openxmlformats.org/drawingml/2006/main">
              <a:ext uri="{FF2B5EF4-FFF2-40B4-BE49-F238E27FC236}">
                <a16:creationId xmlns:a16="http://schemas.microsoft.com/office/drawing/2014/main" id="{F66DE995-68F0-4850-881C-199328C74B4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143375" y="2381250"/>
            <a:ext cx="619125" cy="552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buNone/>
              <a:defRPr sz="3150" b="1">
                <a:solidFill>
                  <a:srgbClr val="F6EDDA"/>
                </a:solidFill>
              </a:defRPr>
            </a:pPr>
            <a:r>
              <a:rPr sz="3150" b="1">
                <a:solidFill>
                  <a:srgbClr val="F6EDDA"/>
                </a:solidFill>
              </a:rPr>
              <a:t>⌁</a:t>
            </a:r>
          </a:p>
        </p:txBody>
      </p:sp>
      <p:sp>
        <p:nvSpPr>
          <p:cNvPr id="15" name="label-3">
            <a:extLst xmlns:a="http://schemas.openxmlformats.org/drawingml/2006/main">
              <a:ext uri="{FF2B5EF4-FFF2-40B4-BE49-F238E27FC236}">
                <a16:creationId xmlns:a16="http://schemas.microsoft.com/office/drawing/2014/main" id="{858BF3FB-3D3B-4C25-8FD6-16AD2E5F2DF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876675" y="3048000"/>
            <a:ext cx="1152525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buNone/>
              <a:defRPr sz="1275" b="1">
                <a:solidFill>
                  <a:srgbClr val="F6EDDA"/>
                </a:solidFill>
              </a:defRPr>
            </a:pPr>
            <a:r>
              <a:rPr sz="1275" b="1">
                <a:solidFill>
                  <a:srgbClr val="F6EDDA"/>
                </a:solidFill>
              </a:rPr>
              <a:t>FISH</a:t>
            </a:r>
          </a:p>
        </p:txBody>
      </p:sp>
      <p:sp>
        <p:nvSpPr>
          <p:cNvPr id="16" name="arrow-3">
            <a:extLst xmlns:a="http://schemas.openxmlformats.org/drawingml/2006/main">
              <a:ext uri="{FF2B5EF4-FFF2-40B4-BE49-F238E27FC236}">
                <a16:creationId xmlns:a16="http://schemas.microsoft.com/office/drawing/2014/main" id="{6F0808AC-D8F0-41E8-8713-B3465111935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0" y="2619375"/>
            <a:ext cx="26670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buNone/>
              <a:defRPr sz="2100" b="1">
                <a:solidFill>
                  <a:srgbClr val="F2A43A"/>
                </a:solidFill>
              </a:defRPr>
            </a:pPr>
            <a:r>
              <a:rPr sz="2100" b="1">
                <a:solidFill>
                  <a:srgbClr val="F2A43A"/>
                </a:solidFill>
              </a:rPr>
              <a:t>→</a:t>
            </a:r>
          </a:p>
        </p:txBody>
      </p:sp>
      <p:sp>
        <p:nvSpPr>
          <p:cNvPr id="17" name="step-4">
            <a:extLst xmlns:a="http://schemas.openxmlformats.org/drawingml/2006/main">
              <a:ext uri="{FF2B5EF4-FFF2-40B4-BE49-F238E27FC236}">
                <a16:creationId xmlns:a16="http://schemas.microsoft.com/office/drawing/2014/main" id="{DD25F9E3-10D2-41A9-BDE0-CC84DDB9705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410200" y="2190750"/>
            <a:ext cx="1381125" cy="1381125"/>
          </a:xfrm>
          <a:prstGeom xmlns:a="http://schemas.openxmlformats.org/drawingml/2006/main" prst="roundRect">
            <a:avLst>
              <a:gd name="adj" fmla="val 50000"/>
            </a:avLst>
          </a:prstGeom>
          <a:solidFill xmlns:a="http://schemas.openxmlformats.org/drawingml/2006/main">
            <a:srgbClr val="0B4651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8" name="icon-4">
            <a:extLst xmlns:a="http://schemas.openxmlformats.org/drawingml/2006/main">
              <a:ext uri="{FF2B5EF4-FFF2-40B4-BE49-F238E27FC236}">
                <a16:creationId xmlns:a16="http://schemas.microsoft.com/office/drawing/2014/main" id="{4A35D1C2-15DD-421F-90D0-29CEC1D4E70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91200" y="2381250"/>
            <a:ext cx="619125" cy="552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buNone/>
              <a:defRPr sz="3150" b="1">
                <a:solidFill>
                  <a:srgbClr val="F6EDDA"/>
                </a:solidFill>
              </a:defRPr>
            </a:pPr>
            <a:r>
              <a:rPr sz="3150" b="1">
                <a:solidFill>
                  <a:srgbClr val="F6EDDA"/>
                </a:solidFill>
              </a:rPr>
              <a:t>$</a:t>
            </a:r>
          </a:p>
        </p:txBody>
      </p:sp>
      <p:sp>
        <p:nvSpPr>
          <p:cNvPr id="19" name="label-4">
            <a:extLst xmlns:a="http://schemas.openxmlformats.org/drawingml/2006/main">
              <a:ext uri="{FF2B5EF4-FFF2-40B4-BE49-F238E27FC236}">
                <a16:creationId xmlns:a16="http://schemas.microsoft.com/office/drawing/2014/main" id="{8092D2F5-A6E3-4646-AD63-352B8274B91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0" y="3048000"/>
            <a:ext cx="1152525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buNone/>
              <a:defRPr sz="1275" b="1">
                <a:solidFill>
                  <a:srgbClr val="F6EDDA"/>
                </a:solidFill>
              </a:defRPr>
            </a:pPr>
            <a:r>
              <a:rPr sz="1275" b="1">
                <a:solidFill>
                  <a:srgbClr val="F6EDDA"/>
                </a:solidFill>
              </a:rPr>
              <a:t>SELL</a:t>
            </a:r>
          </a:p>
        </p:txBody>
      </p:sp>
      <p:sp>
        <p:nvSpPr>
          <p:cNvPr id="20" name="arrow-4">
            <a:extLst xmlns:a="http://schemas.openxmlformats.org/drawingml/2006/main">
              <a:ext uri="{FF2B5EF4-FFF2-40B4-BE49-F238E27FC236}">
                <a16:creationId xmlns:a16="http://schemas.microsoft.com/office/drawing/2014/main" id="{3E209012-DCFA-4D85-A026-0AE844C85E2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791325" y="2619375"/>
            <a:ext cx="26670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buNone/>
              <a:defRPr sz="2100" b="1">
                <a:solidFill>
                  <a:srgbClr val="F2A43A"/>
                </a:solidFill>
              </a:defRPr>
            </a:pPr>
            <a:r>
              <a:rPr sz="2100" b="1">
                <a:solidFill>
                  <a:srgbClr val="F2A43A"/>
                </a:solidFill>
              </a:rPr>
              <a:t>→</a:t>
            </a:r>
          </a:p>
        </p:txBody>
      </p:sp>
      <p:sp>
        <p:nvSpPr>
          <p:cNvPr id="21" name="step-5">
            <a:extLst xmlns:a="http://schemas.openxmlformats.org/drawingml/2006/main">
              <a:ext uri="{FF2B5EF4-FFF2-40B4-BE49-F238E27FC236}">
                <a16:creationId xmlns:a16="http://schemas.microsoft.com/office/drawing/2014/main" id="{585EB6AE-E207-49E4-B93D-E022F3E6F07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058025" y="2190750"/>
            <a:ext cx="1381125" cy="1381125"/>
          </a:xfrm>
          <a:prstGeom xmlns:a="http://schemas.openxmlformats.org/drawingml/2006/main" prst="roundRect">
            <a:avLst>
              <a:gd name="adj" fmla="val 50000"/>
            </a:avLst>
          </a:prstGeom>
          <a:solidFill xmlns:a="http://schemas.openxmlformats.org/drawingml/2006/main">
            <a:srgbClr val="0B4651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2" name="icon-5">
            <a:extLst xmlns:a="http://schemas.openxmlformats.org/drawingml/2006/main">
              <a:ext uri="{FF2B5EF4-FFF2-40B4-BE49-F238E27FC236}">
                <a16:creationId xmlns:a16="http://schemas.microsoft.com/office/drawing/2014/main" id="{6EF58F98-1E71-4984-9892-63F74932EEC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39025" y="2381250"/>
            <a:ext cx="619125" cy="552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buNone/>
              <a:defRPr sz="3150" b="1">
                <a:solidFill>
                  <a:srgbClr val="F6EDDA"/>
                </a:solidFill>
              </a:defRPr>
            </a:pPr>
            <a:r>
              <a:rPr sz="3150" b="1">
                <a:solidFill>
                  <a:srgbClr val="F6EDDA"/>
                </a:solidFill>
              </a:rPr>
              <a:t>↑</a:t>
            </a:r>
          </a:p>
        </p:txBody>
      </p:sp>
      <p:sp>
        <p:nvSpPr>
          <p:cNvPr id="23" name="label-5">
            <a:extLst xmlns:a="http://schemas.openxmlformats.org/drawingml/2006/main">
              <a:ext uri="{FF2B5EF4-FFF2-40B4-BE49-F238E27FC236}">
                <a16:creationId xmlns:a16="http://schemas.microsoft.com/office/drawing/2014/main" id="{B4061397-2AA3-45E5-BC09-B82D7E2FEBD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172325" y="3048000"/>
            <a:ext cx="1152525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buNone/>
              <a:defRPr sz="1275" b="1">
                <a:solidFill>
                  <a:srgbClr val="F6EDDA"/>
                </a:solidFill>
              </a:defRPr>
            </a:pPr>
            <a:r>
              <a:rPr sz="1275" b="1">
                <a:solidFill>
                  <a:srgbClr val="F6EDDA"/>
                </a:solidFill>
              </a:rPr>
              <a:t>UPGRADE</a:t>
            </a:r>
          </a:p>
        </p:txBody>
      </p:sp>
      <p:sp>
        <p:nvSpPr>
          <p:cNvPr id="24" name="arrow-5">
            <a:extLst xmlns:a="http://schemas.openxmlformats.org/drawingml/2006/main">
              <a:ext uri="{FF2B5EF4-FFF2-40B4-BE49-F238E27FC236}">
                <a16:creationId xmlns:a16="http://schemas.microsoft.com/office/drawing/2014/main" id="{D1836FFE-4485-4F8A-A274-B3121BE5057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439150" y="2619375"/>
            <a:ext cx="26670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buNone/>
              <a:defRPr sz="2100" b="1">
                <a:solidFill>
                  <a:srgbClr val="F2A43A"/>
                </a:solidFill>
              </a:defRPr>
            </a:pPr>
            <a:r>
              <a:rPr sz="2100" b="1">
                <a:solidFill>
                  <a:srgbClr val="F2A43A"/>
                </a:solidFill>
              </a:rPr>
              <a:t>→</a:t>
            </a:r>
          </a:p>
        </p:txBody>
      </p:sp>
      <p:sp>
        <p:nvSpPr>
          <p:cNvPr id="25" name="step-6">
            <a:extLst xmlns:a="http://schemas.openxmlformats.org/drawingml/2006/main">
              <a:ext uri="{FF2B5EF4-FFF2-40B4-BE49-F238E27FC236}">
                <a16:creationId xmlns:a16="http://schemas.microsoft.com/office/drawing/2014/main" id="{AC855D2B-5D37-4783-8F28-83CB871DD71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05850" y="2190750"/>
            <a:ext cx="1381125" cy="1381125"/>
          </a:xfrm>
          <a:prstGeom xmlns:a="http://schemas.openxmlformats.org/drawingml/2006/main" prst="roundRect">
            <a:avLst>
              <a:gd name="adj" fmla="val 50000"/>
            </a:avLst>
          </a:prstGeom>
          <a:solidFill xmlns:a="http://schemas.openxmlformats.org/drawingml/2006/main">
            <a:srgbClr val="F2A43A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6" name="icon-6">
            <a:extLst xmlns:a="http://schemas.openxmlformats.org/drawingml/2006/main">
              <a:ext uri="{FF2B5EF4-FFF2-40B4-BE49-F238E27FC236}">
                <a16:creationId xmlns:a16="http://schemas.microsoft.com/office/drawing/2014/main" id="{F264657D-D8F9-43EC-A891-3DF531B8C57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086850" y="2381250"/>
            <a:ext cx="619125" cy="552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buNone/>
              <a:defRPr sz="3150" b="1">
                <a:solidFill>
                  <a:srgbClr val="F6EDDA"/>
                </a:solidFill>
              </a:defRPr>
            </a:pPr>
            <a:r>
              <a:rPr sz="3150" b="1">
                <a:solidFill>
                  <a:srgbClr val="F6EDDA"/>
                </a:solidFill>
              </a:rPr>
              <a:t>↻</a:t>
            </a:r>
          </a:p>
        </p:txBody>
      </p:sp>
      <p:sp>
        <p:nvSpPr>
          <p:cNvPr id="27" name="label-6">
            <a:extLst xmlns:a="http://schemas.openxmlformats.org/drawingml/2006/main">
              <a:ext uri="{FF2B5EF4-FFF2-40B4-BE49-F238E27FC236}">
                <a16:creationId xmlns:a16="http://schemas.microsoft.com/office/drawing/2014/main" id="{2A97428B-591C-4B82-A7BE-86935BFD28D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820150" y="3048000"/>
            <a:ext cx="1152525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buNone/>
              <a:defRPr sz="1275" b="1">
                <a:solidFill>
                  <a:srgbClr val="F6EDDA"/>
                </a:solidFill>
              </a:defRPr>
            </a:pPr>
            <a:r>
              <a:rPr sz="1275" b="1">
                <a:solidFill>
                  <a:srgbClr val="F6EDDA"/>
                </a:solidFill>
              </a:rPr>
              <a:t>REPEAT</a:t>
            </a:r>
          </a:p>
        </p:txBody>
      </p:sp>
      <p:sp>
        <p:nvSpPr>
          <p:cNvPr id="28" name="footer">
            <a:extLst xmlns:a="http://schemas.openxmlformats.org/drawingml/2006/main">
              <a:ext uri="{FF2B5EF4-FFF2-40B4-BE49-F238E27FC236}">
                <a16:creationId xmlns:a16="http://schemas.microsoft.com/office/drawing/2014/main" id="{C1372BD4-5EA8-400C-8D5A-340C3328630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809750" y="4619625"/>
            <a:ext cx="8572500" cy="857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buNone/>
              <a:defRPr sz="2250">
                <a:solidFill>
                  <a:srgbClr val="E8F0EC"/>
                </a:solidFill>
              </a:defRPr>
            </a:pPr>
            <a:r>
              <a:rPr sz="2250">
                <a:solidFill>
                  <a:srgbClr val="E8F0EC"/>
                </a:solidFill>
              </a:rPr>
              <a:t>Capacity, speed, depth, and reel control change what the next trip can achieve.</a:t>
            </a:r>
          </a:p>
        </p:txBody>
      </p:sp>
    </p:spTree>
    <p:extLst>
      <p:ext uri="{BB962C8B-B14F-4D97-AF65-F5344CB8AC3E}">
        <p14:creationId xmlns:p14="http://schemas.microsoft.com/office/powerpoint/2010/main" val="1168103758"/>
      </p:ext>
    </p:extLst>
  </p:cSld>
</p:sld>
</file>

<file path=ppt/slides/slide4.xml><?xml version="1.0" encoding="utf-8"?>
<p:sld xmlns:p="http://schemas.openxmlformats.org/presentationml/2006/main">
  <p:cSld>
    <p:bg>
      <p:bgPr>
        <a:solidFill xmlns:a="http://schemas.openxmlformats.org/drawingml/2006/main">
          <a:srgbClr val="F6EDDA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pic>
        <p:nvPicPr>
          <p:cNvPr id="9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8812c94116ca448f"/>
          <a:stretch xmlns:a="http://schemas.openxmlformats.org/drawingml/2006/main"/>
        </p:blipFill>
        <p:spPr>
          <a:xfrm xmlns:a="http://schemas.openxmlformats.org/drawingml/2006/main">
            <a:off x="10244138" y="266700"/>
            <a:ext cx="1000125" cy="666750"/>
          </a:xfrm>
          <a:prstGeom xmlns:a="http://schemas.openxmlformats.org/drawingml/2006/main" prst="rect">
            <a:avLst/>
          </a:prstGeom>
        </p:spPr>
      </p:pic>
      <p:sp>
        <p:nvSpPr>
          <p:cNvPr id="2" name="eyebrow">
            <a:extLst xmlns:a="http://schemas.openxmlformats.org/drawingml/2006/main">
              <a:ext uri="{FF2B5EF4-FFF2-40B4-BE49-F238E27FC236}">
                <a16:creationId xmlns:a16="http://schemas.microsoft.com/office/drawing/2014/main" id="{6434B0C8-4AC1-48EA-9DCD-76CAFBB4A03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514350"/>
            <a:ext cx="314325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buNone/>
              <a:defRPr sz="1350" b="1">
                <a:solidFill>
                  <a:srgbClr val="F2A43A"/>
                </a:solidFill>
              </a:defRPr>
            </a:pPr>
            <a:r>
              <a:rPr sz="1350" b="1">
                <a:solidFill>
                  <a:srgbClr val="F2A43A"/>
                </a:solidFill>
              </a:rPr>
              <a:t>MAIN CHARACTER</a:t>
            </a:r>
          </a:p>
        </p:txBody>
      </p:sp>
      <p:sp>
        <p:nvSpPr>
          <p:cNvPr id="3" name="headline">
            <a:extLst xmlns:a="http://schemas.openxmlformats.org/drawingml/2006/main">
              <a:ext uri="{FF2B5EF4-FFF2-40B4-BE49-F238E27FC236}">
                <a16:creationId xmlns:a16="http://schemas.microsoft.com/office/drawing/2014/main" id="{5584A3D9-C64C-41AD-BC8E-0AF5C2EC299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1066800"/>
            <a:ext cx="4095750" cy="1428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buNone/>
              <a:defRPr sz="3300" b="1">
                <a:solidFill>
                  <a:srgbClr val="062D35"/>
                </a:solidFill>
              </a:defRPr>
            </a:pPr>
            <a:r>
              <a:rPr sz="3300" b="1">
                <a:solidFill>
                  <a:srgbClr val="062D35"/>
                </a:solidFill>
              </a:rPr>
              <a:t>Your small beginner boat. Lots of upgrades to make.</a:t>
            </a:r>
          </a:p>
        </p:txBody>
      </p:sp>
      <p:pic>
        <p:nvPicPr>
          <p:cNvPr id="12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7a1f2fed28b441f7"/>
          <a:stretch xmlns:a="http://schemas.openxmlformats.org/drawingml/2006/main"/>
        </p:blipFill>
        <p:spPr>
          <a:xfrm xmlns:a="http://schemas.openxmlformats.org/drawingml/2006/main">
            <a:off x="5310188" y="1190625"/>
            <a:ext cx="6143625" cy="4095750"/>
          </a:xfrm>
          <a:prstGeom xmlns:a="http://schemas.openxmlformats.org/drawingml/2006/main" prst="rect">
            <a:avLst/>
          </a:prstGeom>
        </p:spPr>
      </p:pic>
      <p:sp>
        <p:nvSpPr>
          <p:cNvPr id="5" name="traits">
            <a:extLst xmlns:a="http://schemas.openxmlformats.org/drawingml/2006/main">
              <a:ext uri="{FF2B5EF4-FFF2-40B4-BE49-F238E27FC236}">
                <a16:creationId xmlns:a16="http://schemas.microsoft.com/office/drawing/2014/main" id="{AEBCA980-6BEC-479F-A4C0-9E51BF1E09D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8200" y="3238500"/>
            <a:ext cx="3238500" cy="15716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buNone/>
              <a:defRPr sz="1800" b="1">
                <a:solidFill>
                  <a:srgbClr val="0B4651"/>
                </a:solidFill>
              </a:defRPr>
            </a:pPr>
            <a:r>
              <a:rPr sz="1800" b="1">
                <a:solidFill>
                  <a:srgbClr val="0B4651"/>
                </a:solidFill>
              </a:rPr>
              <a:t>CARGO CAPACITY</a:t>
            </a:r>
          </a:p>
          <a:p xmlns:a="http://schemas.openxmlformats.org/drawingml/2006/main">
            <a:pPr>
              <a:buNone/>
              <a:defRPr sz="1800" b="1">
                <a:solidFill>
                  <a:srgbClr val="0B4651"/>
                </a:solidFill>
              </a:defRPr>
            </a:pPr>
            <a:r>
              <a:rPr sz="1800" b="1">
                <a:solidFill>
                  <a:srgbClr val="0B4651"/>
                </a:solidFill>
              </a:rPr>
              <a:t>ENGINE SPEED</a:t>
            </a:r>
          </a:p>
          <a:p xmlns:a="http://schemas.openxmlformats.org/drawingml/2006/main">
            <a:pPr>
              <a:buNone/>
              <a:defRPr sz="1800" b="1">
                <a:solidFill>
                  <a:srgbClr val="0B4651"/>
                </a:solidFill>
              </a:defRPr>
            </a:pPr>
            <a:r>
              <a:rPr sz="1800" b="1">
                <a:solidFill>
                  <a:srgbClr val="0B4651"/>
                </a:solidFill>
              </a:rPr>
              <a:t>LINE DEPTH</a:t>
            </a:r>
          </a:p>
          <a:p xmlns:a="http://schemas.openxmlformats.org/drawingml/2006/main">
            <a:pPr>
              <a:buNone/>
              <a:defRPr sz="1800" b="1">
                <a:solidFill>
                  <a:srgbClr val="0B4651"/>
                </a:solidFill>
              </a:defRPr>
            </a:pPr>
            <a:r>
              <a:rPr sz="1800" b="1">
                <a:solidFill>
                  <a:srgbClr val="0B4651"/>
                </a:solidFill>
              </a:rPr>
              <a:t>REEL POWER</a:t>
            </a:r>
          </a:p>
          <a:p xmlns:a="http://schemas.openxmlformats.org/drawingml/2006/main">
            <a:pPr>
              <a:buNone/>
              <a:defRPr sz="1800" b="1">
                <a:solidFill>
                  <a:srgbClr val="0B4651"/>
                </a:solidFill>
              </a:defRPr>
            </a:pPr>
            <a:r>
              <a:rPr sz="1800" b="1">
                <a:solidFill>
                  <a:srgbClr val="0B4651"/>
                </a:solidFill>
              </a:rPr>
              <a:t>ENGINE BOOST</a:t>
            </a:r>
          </a:p>
        </p:txBody>
      </p:sp>
      <p:sp>
        <p:nvSpPr>
          <p:cNvPr id="6" name="caption">
            <a:extLst xmlns:a="http://schemas.openxmlformats.org/drawingml/2006/main">
              <a:ext uri="{FF2B5EF4-FFF2-40B4-BE49-F238E27FC236}">
                <a16:creationId xmlns:a16="http://schemas.microsoft.com/office/drawing/2014/main" id="{A513FD7F-AB66-4B8A-8335-7112BDB26B9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5619750"/>
            <a:ext cx="552450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buNone/>
              <a:defRPr sz="1800">
                <a:solidFill>
                  <a:srgbClr val="062D35"/>
                </a:solidFill>
              </a:defRPr>
            </a:pPr>
            <a:r>
              <a:rPr sz="1800">
                <a:solidFill>
                  <a:srgbClr val="062D35"/>
                </a:solidFill>
              </a:rPr>
              <a:t>The boat grows through mechanics, not dialogue.</a:t>
            </a:r>
          </a:p>
        </p:txBody>
      </p:sp>
    </p:spTree>
    <p:extLst>
      <p:ext uri="{BB962C8B-B14F-4D97-AF65-F5344CB8AC3E}">
        <p14:creationId xmlns:p14="http://schemas.microsoft.com/office/powerpoint/2010/main" val="121469254"/>
      </p:ext>
    </p:extLst>
  </p:cSld>
</p:sld>
</file>

<file path=ppt/slides/slide5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pic>
        <p:nvPicPr>
          <p:cNvPr id="9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74ab34c5c4f04094"/>
          <a:srcRect xmlns:a="http://schemas.openxmlformats.org/drawingml/2006/main" l="0" t="0" r="0" b="0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0" y="0"/>
            <a:ext cx="12192000" cy="6858000"/>
          </a:xfrm>
          <a:prstGeom xmlns:a="http://schemas.openxmlformats.org/drawingml/2006/main" prst="rect">
            <a:avLst/>
          </a:prstGeom>
        </p:spPr>
      </p:pic>
      <p:sp>
        <p:nvSpPr>
          <p:cNvPr id="2" name="left-wash">
            <a:extLst xmlns:a="http://schemas.openxmlformats.org/drawingml/2006/main">
              <a:ext uri="{FF2B5EF4-FFF2-40B4-BE49-F238E27FC236}">
                <a16:creationId xmlns:a16="http://schemas.microsoft.com/office/drawing/2014/main" id="{608AAC6B-6BAE-48A8-ABBE-878AFF54EFE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5095875" cy="6858000"/>
          </a:xfrm>
          <a:prstGeom xmlns:a="http://schemas.openxmlformats.org/drawingml/2006/main" prst="roundRect">
            <a:avLst>
              <a:gd name="adj" fmla="val 0"/>
            </a:avLst>
          </a:prstGeom>
          <a:solidFill xmlns:a="http://schemas.openxmlformats.org/drawingml/2006/main">
            <a:srgbClr val="062D35">
              <a:alpha val="96078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4" name="eyebrow">
            <a:extLst xmlns:a="http://schemas.openxmlformats.org/drawingml/2006/main">
              <a:ext uri="{FF2B5EF4-FFF2-40B4-BE49-F238E27FC236}">
                <a16:creationId xmlns:a16="http://schemas.microsoft.com/office/drawing/2014/main" id="{8BD194B5-C9E6-4149-A1AC-341843D1C20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8650" y="552450"/>
            <a:ext cx="24765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buNone/>
              <a:defRPr sz="1350" b="1">
                <a:solidFill>
                  <a:srgbClr val="F2A43A"/>
                </a:solidFill>
              </a:defRPr>
            </a:pPr>
            <a:r>
              <a:rPr sz="1350" b="1">
                <a:solidFill>
                  <a:srgbClr val="F2A43A"/>
                </a:solidFill>
              </a:rPr>
              <a:t>THE FIGHT</a:t>
            </a:r>
          </a:p>
        </p:txBody>
      </p:sp>
      <p:sp>
        <p:nvSpPr>
          <p:cNvPr id="5" name="headline">
            <a:extLst xmlns:a="http://schemas.openxmlformats.org/drawingml/2006/main">
              <a:ext uri="{FF2B5EF4-FFF2-40B4-BE49-F238E27FC236}">
                <a16:creationId xmlns:a16="http://schemas.microsoft.com/office/drawing/2014/main" id="{9F87284D-FF28-4ABE-8867-696BF08C56E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8650" y="1104900"/>
            <a:ext cx="3952875" cy="19526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buNone/>
              <a:defRPr sz="3450" b="1">
                <a:solidFill>
                  <a:srgbClr val="F6EDDA"/>
                </a:solidFill>
              </a:defRPr>
            </a:pPr>
            <a:r>
              <a:rPr sz="3450" b="1">
                <a:solidFill>
                  <a:srgbClr val="F6EDDA"/>
                </a:solidFill>
              </a:rPr>
              <a:t>Reel when it is calm. Release when it runs.</a:t>
            </a:r>
          </a:p>
        </p:txBody>
      </p:sp>
      <p:sp>
        <p:nvSpPr>
          <p:cNvPr id="6" name="body">
            <a:extLst xmlns:a="http://schemas.openxmlformats.org/drawingml/2006/main">
              <a:ext uri="{FF2B5EF4-FFF2-40B4-BE49-F238E27FC236}">
                <a16:creationId xmlns:a16="http://schemas.microsoft.com/office/drawing/2014/main" id="{EB2644FF-57D4-4BED-B9F1-FD13A8842D6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8650" y="3381375"/>
            <a:ext cx="3810000" cy="1381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buNone/>
              <a:defRPr sz="1800">
                <a:solidFill>
                  <a:srgbClr val="E8F0EC"/>
                </a:solidFill>
              </a:defRPr>
            </a:pPr>
            <a:r>
              <a:rPr sz="1800">
                <a:solidFill>
                  <a:srgbClr val="E8F0EC"/>
                </a:solidFill>
              </a:rPr>
              <a:t>The line curves, thickens, and changes colour as tension rises. Later fish demand better timing and deeper gear.</a:t>
            </a:r>
          </a:p>
        </p:txBody>
      </p:sp>
      <p:sp>
        <p:nvSpPr>
          <p:cNvPr id="7" name="proof">
            <a:extLst xmlns:a="http://schemas.openxmlformats.org/drawingml/2006/main">
              <a:ext uri="{FF2B5EF4-FFF2-40B4-BE49-F238E27FC236}">
                <a16:creationId xmlns:a16="http://schemas.microsoft.com/office/drawing/2014/main" id="{F42263C6-E1B3-44F1-9845-DEFD274508A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8650" y="5905500"/>
            <a:ext cx="409575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buNone/>
              <a:defRPr sz="1200" b="1">
                <a:solidFill>
                  <a:srgbClr val="F2A43A"/>
                </a:solidFill>
              </a:defRPr>
            </a:pPr>
            <a:r>
              <a:rPr sz="1200" b="1">
                <a:solidFill>
                  <a:srgbClr val="F2A43A"/>
                </a:solidFill>
              </a:rPr>
              <a:t>ALL IMAGES ARE CAPTURED IN GAME</a:t>
            </a:r>
          </a:p>
        </p:txBody>
      </p:sp>
    </p:spTree>
    <p:extLst>
      <p:ext uri="{BB962C8B-B14F-4D97-AF65-F5344CB8AC3E}">
        <p14:creationId xmlns:p14="http://schemas.microsoft.com/office/powerpoint/2010/main" val="1315425816"/>
      </p:ext>
    </p:extLst>
  </p:cSld>
</p:sld>
</file>

<file path=ppt/slides/slide6.xml><?xml version="1.0" encoding="utf-8"?>
<p:sld xmlns:p="http://schemas.openxmlformats.org/presentationml/2006/main">
  <p:cSld>
    <p:bg>
      <p:bgPr>
        <a:solidFill xmlns:a="http://schemas.openxmlformats.org/drawingml/2006/main">
          <a:srgbClr val="F6EDDA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pic>
        <p:nvPicPr>
          <p:cNvPr id="14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6445991a95dc43bd"/>
          <a:stretch xmlns:a="http://schemas.openxmlformats.org/drawingml/2006/main"/>
        </p:blipFill>
        <p:spPr>
          <a:xfrm xmlns:a="http://schemas.openxmlformats.org/drawingml/2006/main">
            <a:off x="10244138" y="266700"/>
            <a:ext cx="1000125" cy="666750"/>
          </a:xfrm>
          <a:prstGeom xmlns:a="http://schemas.openxmlformats.org/drawingml/2006/main" prst="rect">
            <a:avLst/>
          </a:prstGeom>
        </p:spPr>
      </p:pic>
      <p:sp>
        <p:nvSpPr>
          <p:cNvPr id="2" name="headline">
            <a:extLst xmlns:a="http://schemas.openxmlformats.org/drawingml/2006/main">
              <a:ext uri="{FF2B5EF4-FFF2-40B4-BE49-F238E27FC236}">
                <a16:creationId xmlns:a16="http://schemas.microsoft.com/office/drawing/2014/main" id="{1A948238-06FB-4995-B801-F3A75D27887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95375" y="762000"/>
            <a:ext cx="10001250" cy="723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buNone/>
              <a:defRPr sz="3900" b="1">
                <a:solidFill>
                  <a:srgbClr val="062D35"/>
                </a:solidFill>
              </a:defRPr>
            </a:pPr>
            <a:r>
              <a:rPr sz="3900" b="1">
                <a:solidFill>
                  <a:srgbClr val="062D35"/>
                </a:solidFill>
              </a:rPr>
              <a:t>A market you can sail across.</a:t>
            </a:r>
          </a:p>
        </p:txBody>
      </p:sp>
      <p:pic>
        <p:nvPicPr>
          <p:cNvPr id="16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0a499787a3a54f6e"/>
          <a:srcRect xmlns:a="http://schemas.openxmlformats.org/drawingml/2006/main" l="13839" t="0" r="13839" b="0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666750" y="1905000"/>
            <a:ext cx="3429000" cy="2667000"/>
          </a:xfrm>
          <a:prstGeom xmlns:a="http://schemas.openxmlformats.org/drawingml/2006/main" prst="roundRect">
            <a:avLst>
              <a:gd name="adj" fmla="val 4286"/>
            </a:avLst>
          </a:prstGeom>
        </p:spPr>
      </p:pic>
      <p:sp>
        <p:nvSpPr>
          <p:cNvPr id="4" name="cap-0">
            <a:extLst xmlns:a="http://schemas.openxmlformats.org/drawingml/2006/main">
              <a:ext uri="{FF2B5EF4-FFF2-40B4-BE49-F238E27FC236}">
                <a16:creationId xmlns:a16="http://schemas.microsoft.com/office/drawing/2014/main" id="{CD8510CE-535E-4FF0-9891-C2C89631CDB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" y="4810125"/>
            <a:ext cx="342900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buNone/>
              <a:defRPr sz="1725" b="1">
                <a:solidFill>
                  <a:srgbClr val="0B4651"/>
                </a:solidFill>
              </a:defRPr>
            </a:pPr>
            <a:r>
              <a:rPr sz="1725" b="1">
                <a:solidFill>
                  <a:srgbClr val="0B4651"/>
                </a:solidFill>
              </a:rPr>
              <a:t>READ</a:t>
            </a:r>
          </a:p>
        </p:txBody>
      </p:sp>
      <p:pic>
        <p:nvPicPr>
          <p:cNvPr id="18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c13d36a272e1498b"/>
          <a:srcRect xmlns:a="http://schemas.openxmlformats.org/drawingml/2006/main" l="13839" t="0" r="13839" b="0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4524375" y="1905000"/>
            <a:ext cx="3429000" cy="2667000"/>
          </a:xfrm>
          <a:prstGeom xmlns:a="http://schemas.openxmlformats.org/drawingml/2006/main" prst="roundRect">
            <a:avLst>
              <a:gd name="adj" fmla="val 4286"/>
            </a:avLst>
          </a:prstGeom>
        </p:spPr>
      </p:pic>
      <p:sp>
        <p:nvSpPr>
          <p:cNvPr id="6" name="cap-1">
            <a:extLst xmlns:a="http://schemas.openxmlformats.org/drawingml/2006/main">
              <a:ext uri="{FF2B5EF4-FFF2-40B4-BE49-F238E27FC236}">
                <a16:creationId xmlns:a16="http://schemas.microsoft.com/office/drawing/2014/main" id="{0DA5948D-886C-4755-8817-ED6C600D32F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24375" y="4810125"/>
            <a:ext cx="342900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buNone/>
              <a:defRPr sz="1725" b="1">
                <a:solidFill>
                  <a:srgbClr val="F2A43A"/>
                </a:solidFill>
              </a:defRPr>
            </a:pPr>
            <a:r>
              <a:rPr sz="1725" b="1">
                <a:solidFill>
                  <a:srgbClr val="F2A43A"/>
                </a:solidFill>
              </a:rPr>
              <a:t>TRAVEL</a:t>
            </a:r>
          </a:p>
        </p:txBody>
      </p:sp>
      <p:pic>
        <p:nvPicPr>
          <p:cNvPr id="20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980fd04ea41f429a"/>
          <a:srcRect xmlns:a="http://schemas.openxmlformats.org/drawingml/2006/main" l="13839" t="0" r="13839" b="0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8382000" y="1905000"/>
            <a:ext cx="3429000" cy="2667000"/>
          </a:xfrm>
          <a:prstGeom xmlns:a="http://schemas.openxmlformats.org/drawingml/2006/main" prst="roundRect">
            <a:avLst>
              <a:gd name="adj" fmla="val 4286"/>
            </a:avLst>
          </a:prstGeom>
        </p:spPr>
      </p:pic>
      <p:sp>
        <p:nvSpPr>
          <p:cNvPr id="8" name="cap-2">
            <a:extLst xmlns:a="http://schemas.openxmlformats.org/drawingml/2006/main">
              <a:ext uri="{FF2B5EF4-FFF2-40B4-BE49-F238E27FC236}">
                <a16:creationId xmlns:a16="http://schemas.microsoft.com/office/drawing/2014/main" id="{996284A5-0F0A-4D4C-99BB-F2E155B2C3A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82000" y="4810125"/>
            <a:ext cx="342900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buNone/>
              <a:defRPr sz="1725" b="1">
                <a:solidFill>
                  <a:srgbClr val="0B4651"/>
                </a:solidFill>
              </a:defRPr>
            </a:pPr>
            <a:r>
              <a:rPr sz="1725" b="1">
                <a:solidFill>
                  <a:srgbClr val="0B4651"/>
                </a:solidFill>
              </a:rPr>
              <a:t>CATCH</a:t>
            </a:r>
          </a:p>
        </p:txBody>
      </p:sp>
      <p:sp>
        <p:nvSpPr>
          <p:cNvPr id="9" name="close">
            <a:extLst xmlns:a="http://schemas.openxmlformats.org/drawingml/2006/main">
              <a:ext uri="{FF2B5EF4-FFF2-40B4-BE49-F238E27FC236}">
                <a16:creationId xmlns:a16="http://schemas.microsoft.com/office/drawing/2014/main" id="{F300F8C9-88BC-4A9A-B3B2-9048B20E23C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714500" y="5572125"/>
            <a:ext cx="8763000" cy="590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buNone/>
              <a:defRPr sz="2100">
                <a:solidFill>
                  <a:srgbClr val="062D35"/>
                </a:solidFill>
              </a:defRPr>
            </a:pPr>
            <a:r>
              <a:rPr sz="2100">
                <a:solidFill>
                  <a:srgbClr val="062D35"/>
                </a:solidFill>
              </a:rPr>
              <a:t>FSHING turns observation, timing, and trade-offs into one short browser loop.</a:t>
            </a:r>
          </a:p>
        </p:txBody>
      </p:sp>
    </p:spTree>
    <p:extLst>
      <p:ext uri="{BB962C8B-B14F-4D97-AF65-F5344CB8AC3E}">
        <p14:creationId xmlns:p14="http://schemas.microsoft.com/office/powerpoint/2010/main" val="1017772011"/>
      </p:ext>
    </p:extLst>
  </p:cSld>
</p:sld>
</file>

<file path=ppt/theme/theme1.xml><?xml version="1.0" encoding="utf-8"?>
<a:theme xmlns:a="http://schemas.openxmlformats.org/drawingml/2006/main" name="ChatGPT">
  <a:themeElements>
    <a:clrScheme name="ChatGPT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Calibri Light"/>
        <a:ea typeface="Calibri Light"/>
        <a:cs typeface="Calibri Light"/>
      </a:majorFont>
      <a:minorFont>
        <a:latin typeface="Calibri"/>
        <a:ea typeface="Calibri"/>
        <a:cs typeface="Calibri"/>
      </a:minorFont>
    </a:fontScheme>
    <a:fmtScheme name="ChatGPT">
      <a:fillStyleLst>
        <a:solidFill>
          <a:schemeClr val="phClr"/>
        </a:solidFill>
        <a:gradFill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docProps/app.xml><?xml version="1.0" encoding="utf-8"?>
<ap:Properties xmlns:ap="http://schemas.openxmlformats.org/officeDocument/2006/extended-properties">
  <ap:Application>Walnut Exporter</ap:Application>
  <ap:PresentationFormat>Converted Presentation</ap:PresentationFormat>
  <ap:Slides>0</ap:Slides>
  <ap:Notes>0</ap:Notes>
  <ap:HiddenSlides>0</ap:HiddenSlides>
  <ap:SharedDoc>false</ap:SharedDoc>
  <ap:DocSecurity>0</ap:DocSecurity>
</ap:Properties>
</file>

<file path=docProps/core.xml><?xml version="1.0" encoding="utf-8"?>
<coreProperties xmlns:dc="http://purl.org/dc/elements/1.1/" xmlns:dcterms="http://purl.org/dc/terms/" xmlns:xsi="http://www.w3.org/2001/XMLSchema-instance" xmlns="http://schemas.openxmlformats.org/package/2006/metadata/core-properties">
  <dc:creator>Walnut Exporter</dc:creator>
  <lastModifiedBy>Walnut Exporter</lastModifiedBy>
  <dc:title>Presentation</dc:title>
  <dcterms:created xsi:type="dcterms:W3CDTF">2026-08-29T21:54:39.1750000Z</dcterms:created>
  <dcterms:modified xsi:type="dcterms:W3CDTF">2026-08-29T21:54:39.1750000Z</dcterms:modified>
</coreProperties>
</file>